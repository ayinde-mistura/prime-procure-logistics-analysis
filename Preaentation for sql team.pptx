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8.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3" r:id="rId5"/>
    <p:sldId id="264" r:id="rId6"/>
    <p:sldId id="259" r:id="rId7"/>
    <p:sldId id="260" r:id="rId8"/>
    <p:sldId id="261" r:id="rId9"/>
    <p:sldId id="262"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9" d="100"/>
          <a:sy n="79" d="100"/>
        </p:scale>
        <p:origin x="821"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3E8E5A"/>
              </a:solidFill>
              <a:effectLst/>
            </c:spPr>
            <c:extLst>
              <c:ext xmlns:c16="http://schemas.microsoft.com/office/drawing/2014/chart" uri="{C3380CC4-5D6E-409C-BE32-E72D297353CC}">
                <c16:uniqueId val="{00000001-F314-49FA-9B4F-F55E4CA74C16}"/>
              </c:ext>
            </c:extLst>
          </c:dPt>
          <c:dPt>
            <c:idx val="1"/>
            <c:bubble3D val="0"/>
            <c:spPr>
              <a:solidFill>
                <a:srgbClr val="E0954D"/>
              </a:solidFill>
              <a:effectLst/>
            </c:spPr>
            <c:extLst>
              <c:ext xmlns:c16="http://schemas.microsoft.com/office/drawing/2014/chart" uri="{C3380CC4-5D6E-409C-BE32-E72D297353CC}">
                <c16:uniqueId val="{00000003-F314-49FA-9B4F-F55E4CA74C16}"/>
              </c:ext>
            </c:extLst>
          </c:dPt>
          <c:dPt>
            <c:idx val="2"/>
            <c:bubble3D val="0"/>
            <c:spPr>
              <a:solidFill>
                <a:srgbClr val="C0392B"/>
              </a:solidFill>
              <a:effectLst/>
            </c:spPr>
            <c:extLst>
              <c:ext xmlns:c16="http://schemas.microsoft.com/office/drawing/2014/chart" uri="{C3380CC4-5D6E-409C-BE32-E72D297353CC}">
                <c16:uniqueId val="{00000005-F314-49FA-9B4F-F55E4CA74C16}"/>
              </c:ext>
            </c:extLst>
          </c:dPt>
          <c:cat>
            <c:strRef>
              <c:f>Sheet1!$A$2:$A$4</c:f>
              <c:strCache>
                <c:ptCount val="3"/>
                <c:pt idx="0">
                  <c:v>Delivered (33.6%)</c:v>
                </c:pt>
                <c:pt idx="1">
                  <c:v>Delayed (33.1%)</c:v>
                </c:pt>
                <c:pt idx="2">
                  <c:v>Cancelled (33.3%)</c:v>
                </c:pt>
              </c:strCache>
            </c:strRef>
          </c:cat>
          <c:val>
            <c:numRef>
              <c:f>Sheet1!$B$2:$B$4</c:f>
              <c:numCache>
                <c:formatCode>General</c:formatCode>
                <c:ptCount val="3"/>
                <c:pt idx="0">
                  <c:v>336</c:v>
                </c:pt>
                <c:pt idx="1">
                  <c:v>331</c:v>
                </c:pt>
                <c:pt idx="2">
                  <c:v>333</c:v>
                </c:pt>
              </c:numCache>
            </c:numRef>
          </c:val>
          <c:extLst>
            <c:ext xmlns:c16="http://schemas.microsoft.com/office/drawing/2014/chart" uri="{C3380CC4-5D6E-409C-BE32-E72D297353CC}">
              <c16:uniqueId val="{00000006-F314-49FA-9B4F-F55E4CA74C16}"/>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33415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Occurrences</c:v>
                </c:pt>
              </c:strCache>
            </c:strRef>
          </c:tx>
          <c:spPr>
            <a:solidFill>
              <a:srgbClr val="E0954D"/>
            </a:solidFill>
            <a:effectLst/>
          </c:spPr>
          <c:invertIfNegative val="0"/>
          <c:dLbls>
            <c:dLbl>
              <c:idx val="0"/>
              <c:tx>
                <c:rich>
                  <a:bodyPr/>
                  <a:lstStyle/>
                  <a:p>
                    <a:r>
                      <a:rPr lang="en-US" dirty="0"/>
                      <a:t>74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059-4684-AEFE-AC94ACFA0DB5}"/>
                </c:ext>
              </c:extLst>
            </c:dLbl>
            <c:dLbl>
              <c:idx val="1"/>
              <c:tx>
                <c:rich>
                  <a:bodyPr/>
                  <a:lstStyle/>
                  <a:p>
                    <a:r>
                      <a:rPr lang="en-US" dirty="0"/>
                      <a:t>71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059-4684-AEFE-AC94ACFA0DB5}"/>
                </c:ext>
              </c:extLst>
            </c:dLbl>
            <c:dLbl>
              <c:idx val="2"/>
              <c:layout>
                <c:manualLayout>
                  <c:x val="-1.184310177490232E-16"/>
                  <c:y val="-4.9926801600078401E-17"/>
                </c:manualLayout>
              </c:layout>
              <c:tx>
                <c:rich>
                  <a:bodyPr/>
                  <a:lstStyle/>
                  <a:p>
                    <a:r>
                      <a:rPr lang="en-US" dirty="0"/>
                      <a:t>70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059-4684-AEFE-AC94ACFA0DB5}"/>
                </c:ext>
              </c:extLst>
            </c:dLbl>
            <c:numFmt formatCode="#,##0" sourceLinked="0"/>
            <c:spPr>
              <a:noFill/>
              <a:ln>
                <a:noFill/>
              </a:ln>
              <a:effectLst/>
            </c:spPr>
            <c:txPr>
              <a:bodyPr/>
              <a:lstStyle/>
              <a:p>
                <a:pPr>
                  <a:defRPr sz="1100" b="1" i="0" u="none" strike="noStrike">
                    <a:solidFill>
                      <a:srgbClr val="1B2A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Port Delay</c:v>
                </c:pt>
                <c:pt idx="1">
                  <c:v>Traffic</c:v>
                </c:pt>
                <c:pt idx="2">
                  <c:v>Weather</c:v>
                </c:pt>
                <c:pt idx="3">
                  <c:v>Mechanical</c:v>
                </c:pt>
              </c:strCache>
            </c:strRef>
          </c:cat>
          <c:val>
            <c:numRef>
              <c:f>Sheet1!$B$2:$B$5</c:f>
              <c:numCache>
                <c:formatCode>General</c:formatCode>
                <c:ptCount val="4"/>
                <c:pt idx="0">
                  <c:v>74</c:v>
                </c:pt>
                <c:pt idx="1">
                  <c:v>74</c:v>
                </c:pt>
                <c:pt idx="2">
                  <c:v>70</c:v>
                </c:pt>
                <c:pt idx="3">
                  <c:v>54</c:v>
                </c:pt>
              </c:numCache>
            </c:numRef>
          </c:val>
          <c:extLst>
            <c:ext xmlns:c16="http://schemas.microsoft.com/office/drawing/2014/chart" uri="{C3380CC4-5D6E-409C-BE32-E72D297353CC}">
              <c16:uniqueId val="{00000000-14D9-4CEF-9E05-758ADFB7A68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max val="85"/>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Days</c:v>
                </c:pt>
              </c:strCache>
            </c:strRef>
          </c:tx>
          <c:spPr>
            <a:solidFill>
              <a:srgbClr val="3D5A80"/>
            </a:solidFill>
            <a:effectLst/>
          </c:spPr>
          <c:invertIfNegative val="0"/>
          <c:dLbls>
            <c:numFmt formatCode="0.00" sourceLinked="0"/>
            <c:spPr>
              <a:noFill/>
              <a:ln>
                <a:noFill/>
              </a:ln>
              <a:effectLst/>
            </c:spPr>
            <c:txPr>
              <a:bodyPr/>
              <a:lstStyle/>
              <a:p>
                <a:pPr>
                  <a:defRPr sz="1100" b="1" i="0" u="none" strike="noStrike">
                    <a:solidFill>
                      <a:srgbClr val="1B2A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Sea</c:v>
                </c:pt>
                <c:pt idx="1">
                  <c:v>Truck</c:v>
                </c:pt>
                <c:pt idx="2">
                  <c:v>Air</c:v>
                </c:pt>
              </c:strCache>
            </c:strRef>
          </c:cat>
          <c:val>
            <c:numRef>
              <c:f>Sheet1!$B$2:$B$4</c:f>
              <c:numCache>
                <c:formatCode>General</c:formatCode>
                <c:ptCount val="3"/>
                <c:pt idx="0">
                  <c:v>3.94</c:v>
                </c:pt>
                <c:pt idx="1">
                  <c:v>3.99</c:v>
                </c:pt>
                <c:pt idx="2">
                  <c:v>4.0999999999999996</c:v>
                </c:pt>
              </c:numCache>
            </c:numRef>
          </c:val>
          <c:extLst>
            <c:ext xmlns:c16="http://schemas.microsoft.com/office/drawing/2014/chart" uri="{C3380CC4-5D6E-409C-BE32-E72D297353CC}">
              <c16:uniqueId val="{00000000-2336-466E-8ABD-C7B1E26783F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max val="4.2"/>
          <c:min val="3.7"/>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Delayed Shipments</c:v>
                </c:pt>
              </c:strCache>
            </c:strRef>
          </c:tx>
          <c:spPr>
            <a:solidFill>
              <a:srgbClr val="1B2A4A"/>
            </a:solidFill>
            <a:effectLst/>
          </c:spPr>
          <c:invertIfNegative val="0"/>
          <c:dLbls>
            <c:numFmt formatCode="#,##0" sourceLinked="0"/>
            <c:spPr>
              <a:noFill/>
              <a:ln>
                <a:noFill/>
              </a:ln>
              <a:effectLst/>
            </c:spPr>
            <c:txPr>
              <a:bodyPr/>
              <a:lstStyle/>
              <a:p>
                <a:pPr>
                  <a:defRPr sz="1200" b="1" i="0" u="none" strike="noStrike">
                    <a:solidFill>
                      <a:srgbClr val="1B2A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Truck</c:v>
                </c:pt>
                <c:pt idx="1">
                  <c:v>Air</c:v>
                </c:pt>
                <c:pt idx="2">
                  <c:v>Sea</c:v>
                </c:pt>
              </c:strCache>
            </c:strRef>
          </c:cat>
          <c:val>
            <c:numRef>
              <c:f>Sheet1!$B$2:$B$4</c:f>
              <c:numCache>
                <c:formatCode>General</c:formatCode>
                <c:ptCount val="3"/>
                <c:pt idx="0">
                  <c:v>119</c:v>
                </c:pt>
                <c:pt idx="1">
                  <c:v>107</c:v>
                </c:pt>
                <c:pt idx="2">
                  <c:v>105</c:v>
                </c:pt>
              </c:numCache>
            </c:numRef>
          </c:val>
          <c:extLst>
            <c:ext xmlns:c16="http://schemas.microsoft.com/office/drawing/2014/chart" uri="{C3380CC4-5D6E-409C-BE32-E72D297353CC}">
              <c16:uniqueId val="{00000000-1D81-4345-A733-C33D3DFDC00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max val="14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6.4932479504876711E-2"/>
          <c:y val="8.2582582582582581E-2"/>
          <c:w val="0.90389468098895043"/>
          <c:h val="0.7265015015015015"/>
        </c:manualLayout>
      </c:layout>
      <c:barChart>
        <c:barDir val="bar"/>
        <c:grouping val="clustered"/>
        <c:varyColors val="0"/>
        <c:ser>
          <c:idx val="0"/>
          <c:order val="0"/>
          <c:tx>
            <c:strRef>
              <c:f>Sheet1!$B$1</c:f>
              <c:strCache>
                <c:ptCount val="1"/>
                <c:pt idx="0">
                  <c:v>Delays</c:v>
                </c:pt>
              </c:strCache>
            </c:strRef>
          </c:tx>
          <c:spPr>
            <a:solidFill>
              <a:srgbClr val="E0954D"/>
            </a:solidFill>
            <a:effectLst/>
          </c:spPr>
          <c:invertIfNegative val="0"/>
          <c:dLbls>
            <c:dLbl>
              <c:idx val="2"/>
              <c:tx>
                <c:rich>
                  <a:bodyPr/>
                  <a:lstStyle/>
                  <a:p>
                    <a:r>
                      <a:rPr lang="en-US"/>
                      <a:t>48</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A1B-46A0-A634-01F65F7BF159}"/>
                </c:ext>
              </c:extLst>
            </c:dLbl>
            <c:dLbl>
              <c:idx val="3"/>
              <c:tx>
                <c:rich>
                  <a:bodyPr/>
                  <a:lstStyle/>
                  <a:p>
                    <a:r>
                      <a:rPr lang="en-US"/>
                      <a:t>48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A1B-46A0-A634-01F65F7BF159}"/>
                </c:ext>
              </c:extLst>
            </c:dLbl>
            <c:numFmt formatCode="#,##0" sourceLinked="0"/>
            <c:spPr>
              <a:noFill/>
              <a:ln>
                <a:noFill/>
              </a:ln>
              <a:effectLst/>
            </c:spPr>
            <c:txPr>
              <a:bodyPr/>
              <a:lstStyle/>
              <a:p>
                <a:pPr>
                  <a:defRPr sz="1200" b="1" i="0" u="none" strike="noStrike">
                    <a:solidFill>
                      <a:srgbClr val="1B2A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Kemi</c:v>
                </c:pt>
                <c:pt idx="1">
                  <c:v>Musa</c:v>
                </c:pt>
                <c:pt idx="2">
                  <c:v>Sola</c:v>
                </c:pt>
                <c:pt idx="3">
                  <c:v>Tunde</c:v>
                </c:pt>
              </c:strCache>
            </c:strRef>
          </c:cat>
          <c:val>
            <c:numRef>
              <c:f>Sheet1!$B$2:$B$5</c:f>
              <c:numCache>
                <c:formatCode>General</c:formatCode>
                <c:ptCount val="4"/>
                <c:pt idx="0">
                  <c:v>55</c:v>
                </c:pt>
                <c:pt idx="1">
                  <c:v>49</c:v>
                </c:pt>
                <c:pt idx="2">
                  <c:v>47</c:v>
                </c:pt>
                <c:pt idx="3">
                  <c:v>45</c:v>
                </c:pt>
              </c:numCache>
            </c:numRef>
          </c:val>
          <c:extLst>
            <c:ext xmlns:c16="http://schemas.microsoft.com/office/drawing/2014/chart" uri="{C3380CC4-5D6E-409C-BE32-E72D297353CC}">
              <c16:uniqueId val="{00000000-3406-45E4-A9C3-9865B356854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max val="65"/>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B2A4A"/>
              </a:solidFill>
              <a:effectLst/>
            </c:spPr>
            <c:extLst>
              <c:ext xmlns:c16="http://schemas.microsoft.com/office/drawing/2014/chart" uri="{C3380CC4-5D6E-409C-BE32-E72D297353CC}">
                <c16:uniqueId val="{00000001-DE7A-49C7-AE68-F641D6CE13E1}"/>
              </c:ext>
            </c:extLst>
          </c:dPt>
          <c:dPt>
            <c:idx val="1"/>
            <c:bubble3D val="0"/>
            <c:spPr>
              <a:solidFill>
                <a:srgbClr val="3D5A80"/>
              </a:solidFill>
              <a:effectLst/>
            </c:spPr>
            <c:extLst>
              <c:ext xmlns:c16="http://schemas.microsoft.com/office/drawing/2014/chart" uri="{C3380CC4-5D6E-409C-BE32-E72D297353CC}">
                <c16:uniqueId val="{00000003-DE7A-49C7-AE68-F641D6CE13E1}"/>
              </c:ext>
            </c:extLst>
          </c:dPt>
          <c:dPt>
            <c:idx val="2"/>
            <c:bubble3D val="0"/>
            <c:spPr>
              <a:solidFill>
                <a:srgbClr val="E0954D"/>
              </a:solidFill>
              <a:effectLst/>
            </c:spPr>
            <c:extLst>
              <c:ext xmlns:c16="http://schemas.microsoft.com/office/drawing/2014/chart" uri="{C3380CC4-5D6E-409C-BE32-E72D297353CC}">
                <c16:uniqueId val="{00000005-DE7A-49C7-AE68-F641D6CE13E1}"/>
              </c:ext>
            </c:extLst>
          </c:dPt>
          <c:dLbls>
            <c:dLbl>
              <c:idx val="0"/>
              <c:tx>
                <c:rich>
                  <a:bodyPr/>
                  <a:lstStyle/>
                  <a:p>
                    <a:pPr>
                      <a:defRPr sz="1100" b="1" i="0" u="none" strike="noStrike">
                        <a:solidFill>
                          <a:srgbClr val="FFFFFF"/>
                        </a:solidFill>
                        <a:latin typeface="Arial"/>
                      </a:defRPr>
                    </a:pPr>
                    <a:r>
                      <a:rPr lang="en-US" dirty="0"/>
                      <a:t>#46</a:t>
                    </a:r>
                  </a:p>
                </c:rich>
              </c:tx>
              <c:numFmt formatCode="0%" sourceLinked="0"/>
              <c:spPr/>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DE7A-49C7-AE68-F641D6CE13E1}"/>
                </c:ext>
              </c:extLst>
            </c:dLbl>
            <c:dLbl>
              <c:idx val="1"/>
              <c:tx>
                <c:rich>
                  <a:bodyPr/>
                  <a:lstStyle/>
                  <a:p>
                    <a:pPr>
                      <a:defRPr sz="1100" b="1" i="0" u="none" strike="noStrike">
                        <a:solidFill>
                          <a:srgbClr val="FFFFFF"/>
                        </a:solidFill>
                        <a:latin typeface="Arial"/>
                      </a:defRPr>
                    </a:pPr>
                    <a:r>
                      <a:rPr lang="en-US" dirty="0"/>
                      <a:t>#45</a:t>
                    </a:r>
                  </a:p>
                </c:rich>
              </c:tx>
              <c:numFmt formatCode="0%" sourceLinked="0"/>
              <c:spPr/>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DE7A-49C7-AE68-F641D6CE13E1}"/>
                </c:ext>
              </c:extLst>
            </c:dLbl>
            <c:dLbl>
              <c:idx val="2"/>
              <c:tx>
                <c:rich>
                  <a:bodyPr/>
                  <a:lstStyle/>
                  <a:p>
                    <a:pPr>
                      <a:defRPr sz="1100" b="1" i="0" u="none" strike="noStrike">
                        <a:solidFill>
                          <a:srgbClr val="FFFFFF"/>
                        </a:solidFill>
                        <a:latin typeface="Arial"/>
                      </a:defRPr>
                    </a:pPr>
                    <a:r>
                      <a:rPr lang="en-US" dirty="0"/>
                      <a:t>#42</a:t>
                    </a:r>
                  </a:p>
                </c:rich>
              </c:tx>
              <c:numFmt formatCode="0%" sourceLinked="0"/>
              <c:spPr/>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DE7A-49C7-AE68-F641D6CE13E1}"/>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Truck</c:v>
                </c:pt>
                <c:pt idx="1">
                  <c:v>Air</c:v>
                </c:pt>
                <c:pt idx="2">
                  <c:v>Sea</c:v>
                </c:pt>
              </c:strCache>
            </c:strRef>
          </c:cat>
          <c:val>
            <c:numRef>
              <c:f>Sheet1!$B$2:$B$4</c:f>
              <c:numCache>
                <c:formatCode>General</c:formatCode>
                <c:ptCount val="3"/>
                <c:pt idx="0">
                  <c:v>46020870</c:v>
                </c:pt>
                <c:pt idx="1">
                  <c:v>44756117</c:v>
                </c:pt>
                <c:pt idx="2">
                  <c:v>42118862</c:v>
                </c:pt>
              </c:numCache>
            </c:numRef>
          </c:val>
          <c:extLst>
            <c:ext xmlns:c16="http://schemas.microsoft.com/office/drawing/2014/chart" uri="{C3380CC4-5D6E-409C-BE32-E72D297353CC}">
              <c16:uniqueId val="{00000006-DE7A-49C7-AE68-F641D6CE13E1}"/>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00">
              <a:solidFill>
                <a:srgbClr val="33415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7849421600077767"/>
          <c:y val="5.7651991614255764E-2"/>
          <c:w val="0.68755516671527173"/>
          <c:h val="0.88469601677148846"/>
        </c:manualLayout>
      </c:layout>
      <c:barChart>
        <c:barDir val="bar"/>
        <c:grouping val="clustered"/>
        <c:varyColors val="0"/>
        <c:ser>
          <c:idx val="0"/>
          <c:order val="0"/>
          <c:tx>
            <c:strRef>
              <c:f>Sheet1!$B$1</c:f>
              <c:strCache>
                <c:ptCount val="1"/>
                <c:pt idx="0">
                  <c:v>Fuel Cost</c:v>
                </c:pt>
              </c:strCache>
            </c:strRef>
          </c:tx>
          <c:spPr>
            <a:solidFill>
              <a:srgbClr val="E0954D"/>
            </a:solidFill>
            <a:effectLst/>
          </c:spPr>
          <c:invertIfNegative val="0"/>
          <c:dLbls>
            <c:numFmt formatCode="#,##0" sourceLinked="0"/>
            <c:spPr>
              <a:noFill/>
              <a:ln>
                <a:noFill/>
              </a:ln>
              <a:effectLst/>
            </c:spPr>
            <c:txPr>
              <a:bodyPr/>
              <a:lstStyle/>
              <a:p>
                <a:pPr>
                  <a:defRPr sz="1100" b="1" i="0" u="none" strike="noStrike">
                    <a:solidFill>
                      <a:srgbClr val="1B2A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Lagos-Ibadan</c:v>
                </c:pt>
                <c:pt idx="1">
                  <c:v>Kano-Oyo</c:v>
                </c:pt>
                <c:pt idx="2">
                  <c:v>Others (avg)</c:v>
                </c:pt>
              </c:strCache>
            </c:strRef>
          </c:cat>
          <c:val>
            <c:numRef>
              <c:f>Sheet1!$B$2:$B$4</c:f>
              <c:numCache>
                <c:formatCode>General</c:formatCode>
                <c:ptCount val="3"/>
                <c:pt idx="0">
                  <c:v>588870</c:v>
                </c:pt>
                <c:pt idx="1">
                  <c:v>566253</c:v>
                </c:pt>
                <c:pt idx="2">
                  <c:v>410000</c:v>
                </c:pt>
              </c:numCache>
            </c:numRef>
          </c:val>
          <c:extLst>
            <c:ext xmlns:c16="http://schemas.microsoft.com/office/drawing/2014/chart" uri="{C3380CC4-5D6E-409C-BE32-E72D297353CC}">
              <c16:uniqueId val="{00000000-AE3E-4E61-A285-1B6D7ECEC24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Unpaid Shipments</c:v>
                </c:pt>
              </c:strCache>
            </c:strRef>
          </c:tx>
          <c:spPr>
            <a:solidFill>
              <a:srgbClr val="E0954D"/>
            </a:solidFill>
            <a:effectLst/>
          </c:spPr>
          <c:invertIfNegative val="0"/>
          <c:dLbls>
            <c:numFmt formatCode="#,##0" sourceLinked="0"/>
            <c:spPr>
              <a:noFill/>
              <a:ln>
                <a:noFill/>
              </a:ln>
              <a:effectLst/>
            </c:spPr>
            <c:txPr>
              <a:bodyPr/>
              <a:lstStyle/>
              <a:p>
                <a:pPr>
                  <a:defRPr sz="1100" b="1" i="0" u="none" strike="noStrike">
                    <a:solidFill>
                      <a:srgbClr val="FFFFF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Hannah Taylor</c:v>
                </c:pt>
                <c:pt idx="1">
                  <c:v>Paul Harris</c:v>
                </c:pt>
                <c:pt idx="2">
                  <c:v>Esther Clark</c:v>
                </c:pt>
                <c:pt idx="3">
                  <c:v>Sarah Adams</c:v>
                </c:pt>
                <c:pt idx="4">
                  <c:v>Grace Ade</c:v>
                </c:pt>
              </c:strCache>
            </c:strRef>
          </c:cat>
          <c:val>
            <c:numRef>
              <c:f>Sheet1!$B$2:$B$6</c:f>
              <c:numCache>
                <c:formatCode>General</c:formatCode>
                <c:ptCount val="5"/>
                <c:pt idx="0">
                  <c:v>40</c:v>
                </c:pt>
                <c:pt idx="1">
                  <c:v>39</c:v>
                </c:pt>
                <c:pt idx="2">
                  <c:v>38</c:v>
                </c:pt>
                <c:pt idx="3">
                  <c:v>38</c:v>
                </c:pt>
                <c:pt idx="4">
                  <c:v>37</c:v>
                </c:pt>
              </c:numCache>
            </c:numRef>
          </c:val>
          <c:extLst>
            <c:ext xmlns:c16="http://schemas.microsoft.com/office/drawing/2014/chart" uri="{C3380CC4-5D6E-409C-BE32-E72D297353CC}">
              <c16:uniqueId val="{00000000-FF6E-4A7C-85C8-01713B29A8A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C7D2E3"/>
                </a:solidFill>
                <a:latin typeface="Arial"/>
              </a:defRPr>
            </a:pPr>
            <a:endParaRPr lang="en-US"/>
          </a:p>
        </c:txPr>
        <c:crossAx val="2094734552"/>
        <c:crosses val="autoZero"/>
        <c:auto val="1"/>
        <c:lblAlgn val="ctr"/>
        <c:lblOffset val="100"/>
        <c:noMultiLvlLbl val="1"/>
      </c:catAx>
      <c:valAx>
        <c:axId val="2094734552"/>
        <c:scaling>
          <c:orientation val="minMax"/>
          <c:max val="45"/>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solidFill>
      <a:srgbClr val="121C33"/>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Days</c:v>
                </c:pt>
              </c:strCache>
            </c:strRef>
          </c:tx>
          <c:spPr>
            <a:solidFill>
              <a:srgbClr val="C0392B"/>
            </a:solidFill>
            <a:effectLst/>
          </c:spPr>
          <c:invertIfNegative val="0"/>
          <c:dLbls>
            <c:dLbl>
              <c:idx val="0"/>
              <c:tx>
                <c:rich>
                  <a:bodyPr/>
                  <a:lstStyle/>
                  <a:p>
                    <a:r>
                      <a:rPr lang="en-US"/>
                      <a:t>3.91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CE8-49FF-B44F-FEA1F0AB0BB6}"/>
                </c:ext>
              </c:extLst>
            </c:dLbl>
            <c:dLbl>
              <c:idx val="1"/>
              <c:tx>
                <c:rich>
                  <a:bodyPr/>
                  <a:lstStyle/>
                  <a:p>
                    <a:r>
                      <a:rPr lang="en-US"/>
                      <a:t>3.99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CE8-49FF-B44F-FEA1F0AB0BB6}"/>
                </c:ext>
              </c:extLst>
            </c:dLbl>
            <c:dLbl>
              <c:idx val="2"/>
              <c:tx>
                <c:rich>
                  <a:bodyPr/>
                  <a:lstStyle/>
                  <a:p>
                    <a:r>
                      <a:rPr lang="en-US"/>
                      <a:t>4.13</a:t>
                    </a:r>
                  </a:p>
                  <a:p>
                    <a:endParaRPr lang="en-US"/>
                  </a:p>
                </c:rich>
              </c:tx>
              <c:showLegendKey val="0"/>
              <c:showVal val="1"/>
              <c:showCatName val="0"/>
              <c:showSerName val="0"/>
              <c:showPercent val="0"/>
              <c:showBubbleSize val="0"/>
              <c:extLst>
                <c:ext xmlns:c15="http://schemas.microsoft.com/office/drawing/2012/chart" uri="{CE6537A1-D6FC-4f65-9D91-7224C49458BB}">
                  <c15:layout>
                    <c:manualLayout>
                      <c:w val="8.7793088363954497E-2"/>
                      <c:h val="0.13514957264957264"/>
                    </c:manualLayout>
                  </c15:layout>
                  <c15:showDataLabelsRange val="0"/>
                </c:ext>
                <c:ext xmlns:c16="http://schemas.microsoft.com/office/drawing/2014/chart" uri="{C3380CC4-5D6E-409C-BE32-E72D297353CC}">
                  <c16:uniqueId val="{00000002-0CE8-49FF-B44F-FEA1F0AB0BB6}"/>
                </c:ext>
              </c:extLst>
            </c:dLbl>
            <c:numFmt formatCode="#,##0" sourceLinked="0"/>
            <c:spPr>
              <a:noFill/>
              <a:ln>
                <a:noFill/>
              </a:ln>
              <a:effectLst/>
            </c:spPr>
            <c:txPr>
              <a:bodyPr/>
              <a:lstStyle/>
              <a:p>
                <a:pPr>
                  <a:defRPr sz="1200" b="1" i="0" u="none" strike="noStrike">
                    <a:solidFill>
                      <a:srgbClr val="1B2A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3.91</c:v>
                </c:pt>
                <c:pt idx="1">
                  <c:v>3.99</c:v>
                </c:pt>
                <c:pt idx="2">
                  <c:v>4.13</c:v>
                </c:pt>
              </c:numCache>
            </c:numRef>
          </c:val>
          <c:extLst>
            <c:ext xmlns:c16="http://schemas.microsoft.com/office/drawing/2014/chart" uri="{C3380CC4-5D6E-409C-BE32-E72D297353CC}">
              <c16:uniqueId val="{00000000-6B4B-4C0E-A7D4-7F70B03DBF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max val="4.3"/>
          <c:min val="3.7"/>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Success Rate %</c:v>
                </c:pt>
              </c:strCache>
            </c:strRef>
          </c:tx>
          <c:spPr>
            <a:solidFill>
              <a:srgbClr val="3E8E5A"/>
            </a:solidFill>
            <a:effectLst/>
          </c:spPr>
          <c:invertIfNegative val="0"/>
          <c:dLbls>
            <c:numFmt formatCode="0.0&quot;%&quot;" sourceLinked="0"/>
            <c:spPr>
              <a:noFill/>
              <a:ln>
                <a:noFill/>
              </a:ln>
              <a:effectLst/>
            </c:spPr>
            <c:txPr>
              <a:bodyPr/>
              <a:lstStyle/>
              <a:p>
                <a:pPr>
                  <a:defRPr sz="1200" b="1" i="0" u="none" strike="noStrike">
                    <a:solidFill>
                      <a:srgbClr val="1B2A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Air</c:v>
                </c:pt>
                <c:pt idx="1">
                  <c:v>Sea</c:v>
                </c:pt>
                <c:pt idx="2">
                  <c:v>Truck</c:v>
                </c:pt>
              </c:strCache>
            </c:strRef>
          </c:cat>
          <c:val>
            <c:numRef>
              <c:f>Sheet1!$B$2:$B$4</c:f>
              <c:numCache>
                <c:formatCode>General</c:formatCode>
                <c:ptCount val="3"/>
                <c:pt idx="0">
                  <c:v>46.2</c:v>
                </c:pt>
                <c:pt idx="1">
                  <c:v>32.700000000000003</c:v>
                </c:pt>
                <c:pt idx="2">
                  <c:v>29.5</c:v>
                </c:pt>
              </c:numCache>
            </c:numRef>
          </c:val>
          <c:extLst>
            <c:ext xmlns:c16="http://schemas.microsoft.com/office/drawing/2014/chart" uri="{C3380CC4-5D6E-409C-BE32-E72D297353CC}">
              <c16:uniqueId val="{00000000-F029-4489-BE7F-5FEEB08E0CC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max val="55"/>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7160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chart" Target="../charts/chart5.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chart" Target="../charts/char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chart" Target="../charts/chart10.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8503920" y="-2286000"/>
            <a:ext cx="5486400" cy="5486400"/>
          </a:xfrm>
          <a:prstGeom prst="ellipse">
            <a:avLst/>
          </a:prstGeom>
          <a:solidFill>
            <a:srgbClr val="1B2A4A">
              <a:alpha val="60000"/>
            </a:srgbClr>
          </a:solidFill>
          <a:ln/>
        </p:spPr>
      </p:sp>
      <p:sp>
        <p:nvSpPr>
          <p:cNvPr id="3" name="Shape 1"/>
          <p:cNvSpPr/>
          <p:nvPr/>
        </p:nvSpPr>
        <p:spPr>
          <a:xfrm>
            <a:off x="10058400" y="3840480"/>
            <a:ext cx="4114800" cy="4114800"/>
          </a:xfrm>
          <a:prstGeom prst="ellipse">
            <a:avLst/>
          </a:prstGeom>
          <a:solidFill>
            <a:srgbClr val="3D5A80">
              <a:alpha val="40000"/>
            </a:srgbClr>
          </a:solidFill>
          <a:ln/>
        </p:spPr>
      </p:sp>
      <p:sp>
        <p:nvSpPr>
          <p:cNvPr id="4" name="Text 2"/>
          <p:cNvSpPr/>
          <p:nvPr/>
        </p:nvSpPr>
        <p:spPr>
          <a:xfrm>
            <a:off x="822960" y="1874520"/>
            <a:ext cx="9144000" cy="365760"/>
          </a:xfrm>
          <a:prstGeom prst="rect">
            <a:avLst/>
          </a:prstGeom>
          <a:noFill/>
          <a:ln/>
        </p:spPr>
        <p:txBody>
          <a:bodyPr wrap="square" lIns="0" tIns="0" rIns="0" bIns="0" rtlCol="0" anchor="ctr"/>
          <a:lstStyle/>
          <a:p>
            <a:pPr marL="0" indent="0">
              <a:buNone/>
            </a:pPr>
            <a:r>
              <a:rPr lang="en-US" sz="1500" b="1" kern="0" spc="300" dirty="0">
                <a:solidFill>
                  <a:srgbClr val="E0954D"/>
                </a:solidFill>
                <a:latin typeface="Calibri" pitchFamily="34" charset="0"/>
                <a:ea typeface="Calibri" pitchFamily="34" charset="-122"/>
                <a:cs typeface="Calibri" pitchFamily="34" charset="-120"/>
              </a:rPr>
              <a:t>PRIMEPROCURE LOGISTICS &amp; SUPPLY LTD</a:t>
            </a:r>
            <a:endParaRPr lang="en-US" sz="1500" dirty="0"/>
          </a:p>
        </p:txBody>
      </p:sp>
      <p:sp>
        <p:nvSpPr>
          <p:cNvPr id="5" name="Text 3"/>
          <p:cNvSpPr/>
          <p:nvPr/>
        </p:nvSpPr>
        <p:spPr>
          <a:xfrm>
            <a:off x="822960" y="2286000"/>
            <a:ext cx="96012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Procurement &amp; Supply Chain Performance Review</a:t>
            </a:r>
            <a:endParaRPr lang="en-US" sz="4400" dirty="0"/>
          </a:p>
        </p:txBody>
      </p:sp>
      <p:sp>
        <p:nvSpPr>
          <p:cNvPr id="6" name="Text 4"/>
          <p:cNvSpPr/>
          <p:nvPr/>
        </p:nvSpPr>
        <p:spPr>
          <a:xfrm>
            <a:off x="822960" y="3429000"/>
            <a:ext cx="8229600" cy="731520"/>
          </a:xfrm>
          <a:prstGeom prst="rect">
            <a:avLst/>
          </a:prstGeom>
          <a:noFill/>
          <a:ln/>
        </p:spPr>
        <p:txBody>
          <a:bodyPr wrap="square" lIns="0" tIns="0" rIns="0" bIns="0" rtlCol="0" anchor="ctr"/>
          <a:lstStyle/>
          <a:p>
            <a:pPr marL="0" indent="0">
              <a:lnSpc>
                <a:spcPct val="120000"/>
              </a:lnSpc>
              <a:buNone/>
            </a:pPr>
            <a:r>
              <a:rPr lang="en-US" sz="1600" dirty="0">
                <a:solidFill>
                  <a:srgbClr val="C7D2E3"/>
                </a:solidFill>
                <a:latin typeface="Calibri" pitchFamily="34" charset="0"/>
                <a:ea typeface="Calibri" pitchFamily="34" charset="-122"/>
                <a:cs typeface="Calibri" pitchFamily="34" charset="-120"/>
              </a:rPr>
              <a:t>A data-driven review of operations, cost, delivery performance, payments, and priority shipment handling — with findings and recommendations for the Board.</a:t>
            </a:r>
            <a:endParaRPr lang="en-US" sz="1600" dirty="0"/>
          </a:p>
        </p:txBody>
      </p:sp>
      <p:sp>
        <p:nvSpPr>
          <p:cNvPr id="7" name="Shape 5"/>
          <p:cNvSpPr/>
          <p:nvPr/>
        </p:nvSpPr>
        <p:spPr>
          <a:xfrm>
            <a:off x="822960" y="5806440"/>
            <a:ext cx="10515600" cy="0"/>
          </a:xfrm>
          <a:prstGeom prst="line">
            <a:avLst/>
          </a:prstGeom>
          <a:noFill/>
          <a:ln w="12700">
            <a:solidFill>
              <a:srgbClr val="3D5A80"/>
            </a:solidFill>
            <a:prstDash val="solid"/>
          </a:ln>
        </p:spPr>
      </p:sp>
      <p:sp>
        <p:nvSpPr>
          <p:cNvPr id="8" name="Text 6"/>
          <p:cNvSpPr/>
          <p:nvPr/>
        </p:nvSpPr>
        <p:spPr>
          <a:xfrm>
            <a:off x="822960" y="5943600"/>
            <a:ext cx="5486400" cy="320040"/>
          </a:xfrm>
          <a:prstGeom prst="rect">
            <a:avLst/>
          </a:prstGeom>
          <a:noFill/>
          <a:ln/>
        </p:spPr>
        <p:txBody>
          <a:bodyPr wrap="square" lIns="0" tIns="0" rIns="0" bIns="0" rtlCol="0" anchor="ctr"/>
          <a:lstStyle/>
          <a:p>
            <a:pPr marL="0" indent="0">
              <a:buNone/>
            </a:pPr>
            <a:r>
              <a:rPr lang="en-US" sz="1200" dirty="0">
                <a:solidFill>
                  <a:srgbClr val="C7D2E3"/>
                </a:solidFill>
                <a:latin typeface="Calibri" pitchFamily="34" charset="0"/>
                <a:ea typeface="Calibri" pitchFamily="34" charset="-122"/>
                <a:cs typeface="Calibri" pitchFamily="34" charset="-120"/>
              </a:rPr>
              <a:t>Prepared for: Board of Directors &amp; Executive Management</a:t>
            </a:r>
            <a:endParaRPr lang="en-US" sz="1200" dirty="0"/>
          </a:p>
        </p:txBody>
      </p:sp>
      <p:sp>
        <p:nvSpPr>
          <p:cNvPr id="9" name="Text 7"/>
          <p:cNvSpPr/>
          <p:nvPr/>
        </p:nvSpPr>
        <p:spPr>
          <a:xfrm>
            <a:off x="6400800" y="5943600"/>
            <a:ext cx="5029200" cy="320040"/>
          </a:xfrm>
          <a:prstGeom prst="rect">
            <a:avLst/>
          </a:prstGeom>
          <a:noFill/>
          <a:ln/>
        </p:spPr>
        <p:txBody>
          <a:bodyPr wrap="square" lIns="0" tIns="0" rIns="0" bIns="0" rtlCol="0" anchor="ctr"/>
          <a:lstStyle/>
          <a:p>
            <a:pPr marL="0" indent="0" algn="r">
              <a:buNone/>
            </a:pPr>
            <a:r>
              <a:rPr lang="en-US" sz="1200" dirty="0">
                <a:solidFill>
                  <a:srgbClr val="C7D2E3"/>
                </a:solidFill>
                <a:latin typeface="Calibri" pitchFamily="34" charset="0"/>
                <a:ea typeface="Calibri" pitchFamily="34" charset="-122"/>
                <a:cs typeface="Calibri" pitchFamily="34" charset="-120"/>
              </a:rPr>
              <a:t>Data Period: Jan 2023 - Dec 2024   |   Records Analysed: 1,000 Shipments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9144000" cy="36576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PROJECT BACKGROUND &amp; OBJECTIVE</a:t>
            </a:r>
            <a:endParaRPr lang="en-US" sz="1300" dirty="0"/>
          </a:p>
        </p:txBody>
      </p:sp>
      <p:sp>
        <p:nvSpPr>
          <p:cNvPr id="3" name="Text 1"/>
          <p:cNvSpPr/>
          <p:nvPr/>
        </p:nvSpPr>
        <p:spPr>
          <a:xfrm>
            <a:off x="502920" y="713232"/>
            <a:ext cx="10058400" cy="54864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Statement of the Problem</a:t>
            </a:r>
          </a:p>
        </p:txBody>
      </p:sp>
      <p:sp>
        <p:nvSpPr>
          <p:cNvPr id="4" name="Shape 2"/>
          <p:cNvSpPr/>
          <p:nvPr/>
        </p:nvSpPr>
        <p:spPr>
          <a:xfrm>
            <a:off x="502920" y="1600200"/>
            <a:ext cx="5486400" cy="4709160"/>
          </a:xfrm>
          <a:prstGeom prst="roundRect">
            <a:avLst>
              <a:gd name="adj" fmla="val 1553"/>
            </a:avLst>
          </a:prstGeom>
          <a:solidFill>
            <a:srgbClr val="F4F7FB"/>
          </a:solidFill>
          <a:ln/>
          <a:effectLst>
            <a:outerShdw blurRad="101600" dist="25400" dir="5400000" algn="bl" rotWithShape="0">
              <a:srgbClr val="1B2A4A">
                <a:alpha val="8000"/>
              </a:srgbClr>
            </a:outerShdw>
          </a:effectLst>
        </p:spPr>
      </p:sp>
      <p:sp>
        <p:nvSpPr>
          <p:cNvPr id="5" name="Text 3"/>
          <p:cNvSpPr/>
          <p:nvPr/>
        </p:nvSpPr>
        <p:spPr>
          <a:xfrm>
            <a:off x="868680" y="1874520"/>
            <a:ext cx="4572000" cy="274320"/>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THE SITUATION</a:t>
            </a:r>
            <a:endParaRPr lang="en-US" sz="1300" dirty="0"/>
          </a:p>
        </p:txBody>
      </p:sp>
      <p:sp>
        <p:nvSpPr>
          <p:cNvPr id="6" name="Text 4"/>
          <p:cNvSpPr/>
          <p:nvPr/>
        </p:nvSpPr>
        <p:spPr>
          <a:xfrm>
            <a:off x="868680" y="2240280"/>
            <a:ext cx="4754880" cy="1005840"/>
          </a:xfrm>
          <a:prstGeom prst="rect">
            <a:avLst/>
          </a:prstGeom>
          <a:noFill/>
          <a:ln/>
        </p:spPr>
        <p:txBody>
          <a:bodyPr wrap="square" lIns="0" tIns="0" rIns="0" bIns="0" rtlCol="0" anchor="ctr"/>
          <a:lstStyle/>
          <a:p>
            <a:pPr marL="0" indent="0">
              <a:lnSpc>
                <a:spcPct val="125000"/>
              </a:lnSpc>
              <a:buNone/>
            </a:pPr>
            <a:r>
              <a:rPr lang="en-US" sz="1400" dirty="0">
                <a:solidFill>
                  <a:srgbClr val="33415C"/>
                </a:solidFill>
                <a:latin typeface="Calibri" pitchFamily="34" charset="0"/>
                <a:ea typeface="Calibri" pitchFamily="34" charset="-122"/>
                <a:cs typeface="Calibri" pitchFamily="34" charset="-120"/>
              </a:rPr>
              <a:t>PrimeProcure Logistics &amp; Supply Ltd sources and delivers goods across Lagos, Abuja, Kano, Rivers, Ibadan , Port Harcourt and Ogun. Over recent months, management has observed a sustained rise in operational and financial strain across the business.</a:t>
            </a:r>
            <a:endParaRPr lang="en-US" sz="1400" dirty="0"/>
          </a:p>
        </p:txBody>
      </p:sp>
      <p:pic>
        <p:nvPicPr>
          <p:cNvPr id="7" name="Image 0" descr="preencoded.png"/>
          <p:cNvPicPr>
            <a:picLocks noChangeAspect="1"/>
          </p:cNvPicPr>
          <p:nvPr/>
        </p:nvPicPr>
        <p:blipFill>
          <a:blip r:embed="rId3"/>
          <a:stretch>
            <a:fillRect/>
          </a:stretch>
        </p:blipFill>
        <p:spPr>
          <a:xfrm>
            <a:off x="868680" y="3429000"/>
            <a:ext cx="256032" cy="256032"/>
          </a:xfrm>
          <a:prstGeom prst="rect">
            <a:avLst/>
          </a:prstGeom>
        </p:spPr>
      </p:pic>
      <p:sp>
        <p:nvSpPr>
          <p:cNvPr id="8" name="Text 5"/>
          <p:cNvSpPr/>
          <p:nvPr/>
        </p:nvSpPr>
        <p:spPr>
          <a:xfrm>
            <a:off x="1234440" y="3374136"/>
            <a:ext cx="4480560" cy="36576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Increased shipment delays across all transport modes</a:t>
            </a:r>
            <a:endParaRPr lang="en-US" sz="1350" dirty="0"/>
          </a:p>
        </p:txBody>
      </p:sp>
      <p:pic>
        <p:nvPicPr>
          <p:cNvPr id="9" name="Image 1" descr="preencoded.png"/>
          <p:cNvPicPr>
            <a:picLocks noChangeAspect="1"/>
          </p:cNvPicPr>
          <p:nvPr/>
        </p:nvPicPr>
        <p:blipFill>
          <a:blip r:embed="rId3"/>
          <a:stretch>
            <a:fillRect/>
          </a:stretch>
        </p:blipFill>
        <p:spPr>
          <a:xfrm>
            <a:off x="868680" y="3941064"/>
            <a:ext cx="256032" cy="256032"/>
          </a:xfrm>
          <a:prstGeom prst="rect">
            <a:avLst/>
          </a:prstGeom>
        </p:spPr>
      </p:pic>
      <p:sp>
        <p:nvSpPr>
          <p:cNvPr id="10" name="Text 6"/>
          <p:cNvSpPr/>
          <p:nvPr/>
        </p:nvSpPr>
        <p:spPr>
          <a:xfrm>
            <a:off x="1234440" y="3886200"/>
            <a:ext cx="4480560" cy="36576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Rising transportation and fuel costs</a:t>
            </a:r>
            <a:endParaRPr lang="en-US" sz="1350" dirty="0"/>
          </a:p>
        </p:txBody>
      </p:sp>
      <p:pic>
        <p:nvPicPr>
          <p:cNvPr id="11" name="Image 2" descr="preencoded.png"/>
          <p:cNvPicPr>
            <a:picLocks noChangeAspect="1"/>
          </p:cNvPicPr>
          <p:nvPr/>
        </p:nvPicPr>
        <p:blipFill>
          <a:blip r:embed="rId3"/>
          <a:stretch>
            <a:fillRect/>
          </a:stretch>
        </p:blipFill>
        <p:spPr>
          <a:xfrm>
            <a:off x="868680" y="4453128"/>
            <a:ext cx="256032" cy="256032"/>
          </a:xfrm>
          <a:prstGeom prst="rect">
            <a:avLst/>
          </a:prstGeom>
        </p:spPr>
      </p:pic>
      <p:sp>
        <p:nvSpPr>
          <p:cNvPr id="12" name="Text 7"/>
          <p:cNvSpPr/>
          <p:nvPr/>
        </p:nvSpPr>
        <p:spPr>
          <a:xfrm>
            <a:off x="1234440" y="4398264"/>
            <a:ext cx="4480560" cy="36576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Customer complaints about late deliveries</a:t>
            </a:r>
            <a:endParaRPr lang="en-US" sz="1350" dirty="0"/>
          </a:p>
        </p:txBody>
      </p:sp>
      <p:pic>
        <p:nvPicPr>
          <p:cNvPr id="13" name="Image 3" descr="preencoded.png"/>
          <p:cNvPicPr>
            <a:picLocks noChangeAspect="1"/>
          </p:cNvPicPr>
          <p:nvPr/>
        </p:nvPicPr>
        <p:blipFill>
          <a:blip r:embed="rId3"/>
          <a:stretch>
            <a:fillRect/>
          </a:stretch>
        </p:blipFill>
        <p:spPr>
          <a:xfrm>
            <a:off x="868680" y="4965192"/>
            <a:ext cx="256032" cy="256032"/>
          </a:xfrm>
          <a:prstGeom prst="rect">
            <a:avLst/>
          </a:prstGeom>
        </p:spPr>
      </p:pic>
      <p:sp>
        <p:nvSpPr>
          <p:cNvPr id="14" name="Text 8"/>
          <p:cNvSpPr/>
          <p:nvPr/>
        </p:nvSpPr>
        <p:spPr>
          <a:xfrm>
            <a:off x="1234440" y="4910328"/>
            <a:ext cx="4480560" cy="36576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High volume of unpaid shipments</a:t>
            </a:r>
            <a:endParaRPr lang="en-US" sz="1350" dirty="0"/>
          </a:p>
        </p:txBody>
      </p:sp>
      <p:pic>
        <p:nvPicPr>
          <p:cNvPr id="15" name="Image 4" descr="preencoded.png"/>
          <p:cNvPicPr>
            <a:picLocks noChangeAspect="1"/>
          </p:cNvPicPr>
          <p:nvPr/>
        </p:nvPicPr>
        <p:blipFill>
          <a:blip r:embed="rId3"/>
          <a:stretch>
            <a:fillRect/>
          </a:stretch>
        </p:blipFill>
        <p:spPr>
          <a:xfrm>
            <a:off x="868680" y="5477256"/>
            <a:ext cx="256032" cy="256032"/>
          </a:xfrm>
          <a:prstGeom prst="rect">
            <a:avLst/>
          </a:prstGeom>
        </p:spPr>
      </p:pic>
      <p:sp>
        <p:nvSpPr>
          <p:cNvPr id="16" name="Text 9"/>
          <p:cNvSpPr/>
          <p:nvPr/>
        </p:nvSpPr>
        <p:spPr>
          <a:xfrm>
            <a:off x="1234440" y="5422392"/>
            <a:ext cx="4480560" cy="36576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Inefficiencies in transport and delivery operations</a:t>
            </a:r>
            <a:endParaRPr lang="en-US" sz="1350" dirty="0"/>
          </a:p>
        </p:txBody>
      </p:sp>
      <p:sp>
        <p:nvSpPr>
          <p:cNvPr id="17" name="Shape 10"/>
          <p:cNvSpPr/>
          <p:nvPr/>
        </p:nvSpPr>
        <p:spPr>
          <a:xfrm>
            <a:off x="6199632" y="1600200"/>
            <a:ext cx="5486400" cy="4709160"/>
          </a:xfrm>
          <a:prstGeom prst="roundRect">
            <a:avLst>
              <a:gd name="adj" fmla="val 1553"/>
            </a:avLst>
          </a:prstGeom>
          <a:solidFill>
            <a:srgbClr val="1B2A4A"/>
          </a:solidFill>
          <a:ln/>
          <a:effectLst>
            <a:outerShdw blurRad="101600" dist="25400" dir="5400000" algn="bl" rotWithShape="0">
              <a:srgbClr val="1B2A4A">
                <a:alpha val="12000"/>
              </a:srgbClr>
            </a:outerShdw>
          </a:effectLst>
        </p:spPr>
      </p:sp>
      <p:sp>
        <p:nvSpPr>
          <p:cNvPr id="18" name="Text 11"/>
          <p:cNvSpPr/>
          <p:nvPr/>
        </p:nvSpPr>
        <p:spPr>
          <a:xfrm>
            <a:off x="6565392" y="1874520"/>
            <a:ext cx="4572000" cy="274320"/>
          </a:xfrm>
          <a:prstGeom prst="rect">
            <a:avLst/>
          </a:prstGeom>
          <a:noFill/>
          <a:ln/>
        </p:spPr>
        <p:txBody>
          <a:bodyPr wrap="square" lIns="0" tIns="0" rIns="0" bIns="0" rtlCol="0" anchor="ctr"/>
          <a:lstStyle/>
          <a:p>
            <a:pPr marL="0" indent="0">
              <a:buNone/>
            </a:pPr>
            <a:r>
              <a:rPr lang="en-US" sz="1300" b="1" kern="0" spc="150" dirty="0">
                <a:solidFill>
                  <a:srgbClr val="E0954D"/>
                </a:solidFill>
                <a:latin typeface="Calibri" pitchFamily="34" charset="0"/>
                <a:ea typeface="Calibri" pitchFamily="34" charset="-122"/>
                <a:cs typeface="Calibri" pitchFamily="34" charset="-120"/>
              </a:rPr>
              <a:t>PROJECT OBJECTIVE</a:t>
            </a:r>
            <a:endParaRPr lang="en-US" sz="1300" dirty="0"/>
          </a:p>
        </p:txBody>
      </p:sp>
      <p:sp>
        <p:nvSpPr>
          <p:cNvPr id="19" name="Text 12"/>
          <p:cNvSpPr/>
          <p:nvPr/>
        </p:nvSpPr>
        <p:spPr>
          <a:xfrm>
            <a:off x="6565392" y="2240280"/>
            <a:ext cx="4846320" cy="960120"/>
          </a:xfrm>
          <a:prstGeom prst="rect">
            <a:avLst/>
          </a:prstGeom>
          <a:noFill/>
          <a:ln/>
        </p:spPr>
        <p:txBody>
          <a:bodyPr wrap="square" lIns="0" tIns="0" rIns="0" bIns="0" rtlCol="0" anchor="ctr"/>
          <a:lstStyle/>
          <a:p>
            <a:pPr marL="0" indent="0">
              <a:lnSpc>
                <a:spcPct val="125000"/>
              </a:lnSpc>
              <a:buNone/>
            </a:pPr>
            <a:r>
              <a:rPr lang="en-US" sz="1400" dirty="0">
                <a:solidFill>
                  <a:srgbClr val="DCE4F2"/>
                </a:solidFill>
                <a:latin typeface="Calibri" pitchFamily="34" charset="0"/>
                <a:ea typeface="Calibri" pitchFamily="34" charset="-122"/>
                <a:cs typeface="Calibri" pitchFamily="34" charset="-120"/>
              </a:rPr>
              <a:t>To use the company's procurement and shipment records to uncover the root causes of these challenges, and to present management with clear, data-backed insights and recommendations across five critical business areas:</a:t>
            </a:r>
            <a:endParaRPr lang="en-US" sz="1400" dirty="0"/>
          </a:p>
        </p:txBody>
      </p:sp>
      <p:sp>
        <p:nvSpPr>
          <p:cNvPr id="20" name="Shape 13"/>
          <p:cNvSpPr/>
          <p:nvPr/>
        </p:nvSpPr>
        <p:spPr>
          <a:xfrm>
            <a:off x="6565392" y="3429000"/>
            <a:ext cx="384048" cy="384048"/>
          </a:xfrm>
          <a:prstGeom prst="ellipse">
            <a:avLst/>
          </a:prstGeom>
          <a:solidFill>
            <a:srgbClr val="3D5A80"/>
          </a:solidFill>
          <a:ln/>
        </p:spPr>
      </p:sp>
      <p:sp>
        <p:nvSpPr>
          <p:cNvPr id="21" name="Text 14"/>
          <p:cNvSpPr/>
          <p:nvPr/>
        </p:nvSpPr>
        <p:spPr>
          <a:xfrm>
            <a:off x="6565392" y="34290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2" name="Text 15"/>
          <p:cNvSpPr/>
          <p:nvPr/>
        </p:nvSpPr>
        <p:spPr>
          <a:xfrm>
            <a:off x="7077456" y="3447288"/>
            <a:ext cx="4572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Operations &amp; Logistics Performance</a:t>
            </a:r>
            <a:endParaRPr lang="en-US" sz="1400" dirty="0"/>
          </a:p>
        </p:txBody>
      </p:sp>
      <p:sp>
        <p:nvSpPr>
          <p:cNvPr id="23" name="Shape 16"/>
          <p:cNvSpPr/>
          <p:nvPr/>
        </p:nvSpPr>
        <p:spPr>
          <a:xfrm>
            <a:off x="6565392" y="3941064"/>
            <a:ext cx="384048" cy="384048"/>
          </a:xfrm>
          <a:prstGeom prst="ellipse">
            <a:avLst/>
          </a:prstGeom>
          <a:solidFill>
            <a:srgbClr val="3D5A80"/>
          </a:solidFill>
          <a:ln/>
        </p:spPr>
      </p:sp>
      <p:sp>
        <p:nvSpPr>
          <p:cNvPr id="24" name="Text 17"/>
          <p:cNvSpPr/>
          <p:nvPr/>
        </p:nvSpPr>
        <p:spPr>
          <a:xfrm>
            <a:off x="6565392" y="39410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5" name="Text 18"/>
          <p:cNvSpPr/>
          <p:nvPr/>
        </p:nvSpPr>
        <p:spPr>
          <a:xfrm>
            <a:off x="7077456" y="3959352"/>
            <a:ext cx="4572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Cost &amp; Financial Analysis</a:t>
            </a:r>
            <a:endParaRPr lang="en-US" sz="1400" dirty="0"/>
          </a:p>
        </p:txBody>
      </p:sp>
      <p:sp>
        <p:nvSpPr>
          <p:cNvPr id="26" name="Shape 19"/>
          <p:cNvSpPr/>
          <p:nvPr/>
        </p:nvSpPr>
        <p:spPr>
          <a:xfrm>
            <a:off x="6565392" y="4453128"/>
            <a:ext cx="384048" cy="384048"/>
          </a:xfrm>
          <a:prstGeom prst="ellipse">
            <a:avLst/>
          </a:prstGeom>
          <a:solidFill>
            <a:srgbClr val="3D5A80"/>
          </a:solidFill>
          <a:ln/>
        </p:spPr>
      </p:sp>
      <p:sp>
        <p:nvSpPr>
          <p:cNvPr id="27" name="Text 20"/>
          <p:cNvSpPr/>
          <p:nvPr/>
        </p:nvSpPr>
        <p:spPr>
          <a:xfrm>
            <a:off x="6565392" y="44531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8" name="Text 21"/>
          <p:cNvSpPr/>
          <p:nvPr/>
        </p:nvSpPr>
        <p:spPr>
          <a:xfrm>
            <a:off x="7077456" y="4471416"/>
            <a:ext cx="4572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Delivery Performance Analysis</a:t>
            </a:r>
            <a:endParaRPr lang="en-US" sz="1400" dirty="0"/>
          </a:p>
        </p:txBody>
      </p:sp>
      <p:sp>
        <p:nvSpPr>
          <p:cNvPr id="29" name="Shape 22"/>
          <p:cNvSpPr/>
          <p:nvPr/>
        </p:nvSpPr>
        <p:spPr>
          <a:xfrm>
            <a:off x="6565392" y="4965192"/>
            <a:ext cx="384048" cy="384048"/>
          </a:xfrm>
          <a:prstGeom prst="ellipse">
            <a:avLst/>
          </a:prstGeom>
          <a:solidFill>
            <a:srgbClr val="3D5A80"/>
          </a:solidFill>
          <a:ln/>
        </p:spPr>
      </p:sp>
      <p:sp>
        <p:nvSpPr>
          <p:cNvPr id="30" name="Text 23"/>
          <p:cNvSpPr/>
          <p:nvPr/>
        </p:nvSpPr>
        <p:spPr>
          <a:xfrm>
            <a:off x="6565392" y="49651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1" name="Text 24"/>
          <p:cNvSpPr/>
          <p:nvPr/>
        </p:nvSpPr>
        <p:spPr>
          <a:xfrm>
            <a:off x="7077456" y="4983480"/>
            <a:ext cx="4572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Payment &amp; Customer Analysis</a:t>
            </a:r>
            <a:endParaRPr lang="en-US" sz="1400" dirty="0"/>
          </a:p>
        </p:txBody>
      </p:sp>
      <p:sp>
        <p:nvSpPr>
          <p:cNvPr id="32" name="Shape 25"/>
          <p:cNvSpPr/>
          <p:nvPr/>
        </p:nvSpPr>
        <p:spPr>
          <a:xfrm>
            <a:off x="6565392" y="5477256"/>
            <a:ext cx="384048" cy="384048"/>
          </a:xfrm>
          <a:prstGeom prst="ellipse">
            <a:avLst/>
          </a:prstGeom>
          <a:solidFill>
            <a:srgbClr val="3D5A80"/>
          </a:solidFill>
          <a:ln/>
        </p:spPr>
      </p:sp>
      <p:sp>
        <p:nvSpPr>
          <p:cNvPr id="33" name="Text 26"/>
          <p:cNvSpPr/>
          <p:nvPr/>
        </p:nvSpPr>
        <p:spPr>
          <a:xfrm>
            <a:off x="6565392" y="54772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4" name="Text 27"/>
          <p:cNvSpPr/>
          <p:nvPr/>
        </p:nvSpPr>
        <p:spPr>
          <a:xfrm>
            <a:off x="7077456" y="5495544"/>
            <a:ext cx="4572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Priority Shipment Analysis</a:t>
            </a:r>
            <a:endParaRPr lang="en-US" sz="1400" dirty="0"/>
          </a:p>
        </p:txBody>
      </p:sp>
      <p:sp>
        <p:nvSpPr>
          <p:cNvPr id="35" name="Text 28"/>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2</a:t>
            </a:r>
            <a:endParaRPr lang="en-US" sz="1000" dirty="0"/>
          </a:p>
        </p:txBody>
      </p:sp>
      <p:sp>
        <p:nvSpPr>
          <p:cNvPr id="36" name="Text 29"/>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C33"/>
        </a:solidFill>
        <a:effectLst/>
      </p:bgPr>
    </p:bg>
    <p:spTree>
      <p:nvGrpSpPr>
        <p:cNvPr id="1" name=""/>
        <p:cNvGrpSpPr/>
        <p:nvPr/>
      </p:nvGrpSpPr>
      <p:grpSpPr>
        <a:xfrm>
          <a:off x="0" y="0"/>
          <a:ext cx="0" cy="0"/>
          <a:chOff x="0" y="0"/>
          <a:chExt cx="0" cy="0"/>
        </a:xfrm>
      </p:grpSpPr>
      <p:sp>
        <p:nvSpPr>
          <p:cNvPr id="2" name="Text 0"/>
          <p:cNvSpPr/>
          <p:nvPr/>
        </p:nvSpPr>
        <p:spPr>
          <a:xfrm>
            <a:off x="502920" y="411480"/>
            <a:ext cx="9144000" cy="36576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EXECUTIVE SUMMARY</a:t>
            </a:r>
            <a:endParaRPr lang="en-US" sz="1300" dirty="0"/>
          </a:p>
        </p:txBody>
      </p:sp>
      <p:sp>
        <p:nvSpPr>
          <p:cNvPr id="3" name="Text 1"/>
          <p:cNvSpPr/>
          <p:nvPr/>
        </p:nvSpPr>
        <p:spPr>
          <a:xfrm>
            <a:off x="502920" y="713232"/>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state of the business, in four numbers</a:t>
            </a:r>
            <a:endParaRPr lang="en-US" sz="3000" dirty="0"/>
          </a:p>
        </p:txBody>
      </p:sp>
      <p:sp>
        <p:nvSpPr>
          <p:cNvPr id="4" name="Shape 2"/>
          <p:cNvSpPr/>
          <p:nvPr/>
        </p:nvSpPr>
        <p:spPr>
          <a:xfrm>
            <a:off x="502920" y="1554480"/>
            <a:ext cx="2697480" cy="2331720"/>
          </a:xfrm>
          <a:prstGeom prst="roundRect">
            <a:avLst>
              <a:gd name="adj" fmla="val 3137"/>
            </a:avLst>
          </a:prstGeom>
          <a:solidFill>
            <a:srgbClr val="1B2A4A"/>
          </a:solidFill>
          <a:ln/>
        </p:spPr>
      </p:sp>
      <p:sp>
        <p:nvSpPr>
          <p:cNvPr id="5" name="Text 3"/>
          <p:cNvSpPr/>
          <p:nvPr/>
        </p:nvSpPr>
        <p:spPr>
          <a:xfrm>
            <a:off x="502920" y="1783080"/>
            <a:ext cx="2697480" cy="914400"/>
          </a:xfrm>
          <a:prstGeom prst="rect">
            <a:avLst/>
          </a:prstGeom>
          <a:noFill/>
          <a:ln/>
        </p:spPr>
        <p:txBody>
          <a:bodyPr wrap="square" lIns="0" tIns="0" rIns="0" bIns="0" rtlCol="0" anchor="ctr"/>
          <a:lstStyle/>
          <a:p>
            <a:pPr marL="0" indent="0" algn="ctr">
              <a:buNone/>
            </a:pPr>
            <a:r>
              <a:rPr lang="en-US" sz="4600" b="1" dirty="0">
                <a:solidFill>
                  <a:srgbClr val="C0392B"/>
                </a:solidFill>
                <a:latin typeface="Cambria" pitchFamily="34" charset="0"/>
                <a:ea typeface="Cambria" pitchFamily="34" charset="-122"/>
                <a:cs typeface="Cambria" pitchFamily="34" charset="-120"/>
              </a:rPr>
              <a:t>33.6%</a:t>
            </a:r>
            <a:endParaRPr lang="en-US" sz="4600" dirty="0"/>
          </a:p>
        </p:txBody>
      </p:sp>
      <p:sp>
        <p:nvSpPr>
          <p:cNvPr id="6" name="Text 4"/>
          <p:cNvSpPr/>
          <p:nvPr/>
        </p:nvSpPr>
        <p:spPr>
          <a:xfrm>
            <a:off x="640080" y="2697480"/>
            <a:ext cx="2423160" cy="594360"/>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Shipments delivered</a:t>
            </a:r>
            <a:endParaRPr lang="en-US" sz="1500" dirty="0"/>
          </a:p>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on time</a:t>
            </a:r>
            <a:endParaRPr lang="en-US" sz="1500" dirty="0"/>
          </a:p>
        </p:txBody>
      </p:sp>
      <p:sp>
        <p:nvSpPr>
          <p:cNvPr id="7" name="Text 5"/>
          <p:cNvSpPr/>
          <p:nvPr/>
        </p:nvSpPr>
        <p:spPr>
          <a:xfrm>
            <a:off x="640080" y="3337560"/>
            <a:ext cx="2423160" cy="457200"/>
          </a:xfrm>
          <a:prstGeom prst="rect">
            <a:avLst/>
          </a:prstGeom>
          <a:noFill/>
          <a:ln/>
        </p:spPr>
        <p:txBody>
          <a:bodyPr wrap="square" lIns="0" tIns="0" rIns="0" bIns="0" rtlCol="0" anchor="ctr"/>
          <a:lstStyle/>
          <a:p>
            <a:pPr marL="0" indent="0" algn="ctr">
              <a:buNone/>
            </a:pPr>
            <a:r>
              <a:rPr lang="en-US" sz="1100" i="1" dirty="0">
                <a:solidFill>
                  <a:srgbClr val="9AA7BD"/>
                </a:solidFill>
                <a:latin typeface="Calibri" pitchFamily="34" charset="0"/>
                <a:ea typeface="Calibri" pitchFamily="34" charset="-122"/>
                <a:cs typeface="Calibri" pitchFamily="34" charset="-120"/>
              </a:rPr>
              <a:t>Only 1 in 3 shipments succeeds</a:t>
            </a:r>
            <a:endParaRPr lang="en-US" sz="1100" dirty="0"/>
          </a:p>
        </p:txBody>
      </p:sp>
      <p:sp>
        <p:nvSpPr>
          <p:cNvPr id="8" name="Shape 6"/>
          <p:cNvSpPr/>
          <p:nvPr/>
        </p:nvSpPr>
        <p:spPr>
          <a:xfrm>
            <a:off x="3429000" y="1554480"/>
            <a:ext cx="2697480" cy="2331720"/>
          </a:xfrm>
          <a:prstGeom prst="roundRect">
            <a:avLst>
              <a:gd name="adj" fmla="val 3137"/>
            </a:avLst>
          </a:prstGeom>
          <a:solidFill>
            <a:srgbClr val="1B2A4A"/>
          </a:solidFill>
          <a:ln/>
        </p:spPr>
      </p:sp>
      <p:sp>
        <p:nvSpPr>
          <p:cNvPr id="9" name="Text 7"/>
          <p:cNvSpPr/>
          <p:nvPr/>
        </p:nvSpPr>
        <p:spPr>
          <a:xfrm>
            <a:off x="3429000" y="1783080"/>
            <a:ext cx="2697480" cy="914400"/>
          </a:xfrm>
          <a:prstGeom prst="rect">
            <a:avLst/>
          </a:prstGeom>
          <a:noFill/>
          <a:ln/>
        </p:spPr>
        <p:txBody>
          <a:bodyPr wrap="square" lIns="0" tIns="0" rIns="0" bIns="0" rtlCol="0" anchor="ctr"/>
          <a:lstStyle/>
          <a:p>
            <a:pPr marL="0" indent="0" algn="ctr">
              <a:buNone/>
            </a:pPr>
            <a:r>
              <a:rPr lang="en-US" sz="4600" b="1" dirty="0">
                <a:solidFill>
                  <a:srgbClr val="E0954D"/>
                </a:solidFill>
                <a:latin typeface="Cambria" pitchFamily="34" charset="0"/>
                <a:ea typeface="Cambria" pitchFamily="34" charset="-122"/>
                <a:cs typeface="Cambria" pitchFamily="34" charset="-120"/>
              </a:rPr>
              <a:t>33.1%</a:t>
            </a:r>
            <a:endParaRPr lang="en-US" sz="4600" dirty="0"/>
          </a:p>
        </p:txBody>
      </p:sp>
      <p:sp>
        <p:nvSpPr>
          <p:cNvPr id="10" name="Text 8"/>
          <p:cNvSpPr/>
          <p:nvPr/>
        </p:nvSpPr>
        <p:spPr>
          <a:xfrm>
            <a:off x="3566160" y="2697480"/>
            <a:ext cx="2423160" cy="594360"/>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Shipments</a:t>
            </a:r>
            <a:endParaRPr lang="en-US" sz="1500" dirty="0"/>
          </a:p>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delayed</a:t>
            </a:r>
            <a:endParaRPr lang="en-US" sz="1500" dirty="0"/>
          </a:p>
        </p:txBody>
      </p:sp>
      <p:sp>
        <p:nvSpPr>
          <p:cNvPr id="11" name="Text 9"/>
          <p:cNvSpPr/>
          <p:nvPr/>
        </p:nvSpPr>
        <p:spPr>
          <a:xfrm>
            <a:off x="3566160" y="3337560"/>
            <a:ext cx="2423160" cy="457200"/>
          </a:xfrm>
          <a:prstGeom prst="rect">
            <a:avLst/>
          </a:prstGeom>
          <a:noFill/>
          <a:ln/>
        </p:spPr>
        <p:txBody>
          <a:bodyPr wrap="square" lIns="0" tIns="0" rIns="0" bIns="0" rtlCol="0" anchor="ctr"/>
          <a:lstStyle/>
          <a:p>
            <a:pPr marL="0" indent="0" algn="ctr">
              <a:buNone/>
            </a:pPr>
            <a:r>
              <a:rPr lang="en-US" sz="1100" i="1" dirty="0">
                <a:solidFill>
                  <a:srgbClr val="9AA7BD"/>
                </a:solidFill>
                <a:latin typeface="Calibri" pitchFamily="34" charset="0"/>
                <a:ea typeface="Calibri" pitchFamily="34" charset="-122"/>
                <a:cs typeface="Calibri" pitchFamily="34" charset="-120"/>
              </a:rPr>
              <a:t>331 of 1,000 shipments</a:t>
            </a:r>
            <a:endParaRPr lang="en-US" sz="1100" dirty="0"/>
          </a:p>
        </p:txBody>
      </p:sp>
      <p:sp>
        <p:nvSpPr>
          <p:cNvPr id="12" name="Shape 10"/>
          <p:cNvSpPr/>
          <p:nvPr/>
        </p:nvSpPr>
        <p:spPr>
          <a:xfrm>
            <a:off x="6355080" y="1554480"/>
            <a:ext cx="2697480" cy="2331720"/>
          </a:xfrm>
          <a:prstGeom prst="roundRect">
            <a:avLst>
              <a:gd name="adj" fmla="val 3137"/>
            </a:avLst>
          </a:prstGeom>
          <a:solidFill>
            <a:srgbClr val="1B2A4A"/>
          </a:solidFill>
          <a:ln/>
        </p:spPr>
      </p:sp>
      <p:sp>
        <p:nvSpPr>
          <p:cNvPr id="13" name="Text 11"/>
          <p:cNvSpPr/>
          <p:nvPr/>
        </p:nvSpPr>
        <p:spPr>
          <a:xfrm>
            <a:off x="6355080" y="1783080"/>
            <a:ext cx="2697480" cy="914400"/>
          </a:xfrm>
          <a:prstGeom prst="rect">
            <a:avLst/>
          </a:prstGeom>
          <a:noFill/>
          <a:ln/>
        </p:spPr>
        <p:txBody>
          <a:bodyPr wrap="square" lIns="0" tIns="0" rIns="0" bIns="0" rtlCol="0" anchor="ctr"/>
          <a:lstStyle/>
          <a:p>
            <a:pPr marL="0" indent="0" algn="ctr">
              <a:buNone/>
            </a:pPr>
            <a:r>
              <a:rPr lang="en-US" sz="4600" b="1" dirty="0">
                <a:solidFill>
                  <a:srgbClr val="C0392B"/>
                </a:solidFill>
                <a:latin typeface="Cambria" pitchFamily="34" charset="0"/>
                <a:ea typeface="Cambria" pitchFamily="34" charset="-122"/>
                <a:cs typeface="Cambria" pitchFamily="34" charset="-120"/>
              </a:rPr>
              <a:t>33.3%</a:t>
            </a:r>
            <a:endParaRPr lang="en-US" sz="4600" dirty="0"/>
          </a:p>
        </p:txBody>
      </p:sp>
      <p:sp>
        <p:nvSpPr>
          <p:cNvPr id="14" name="Text 12"/>
          <p:cNvSpPr/>
          <p:nvPr/>
        </p:nvSpPr>
        <p:spPr>
          <a:xfrm>
            <a:off x="6492240" y="2697480"/>
            <a:ext cx="2423160" cy="594360"/>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Shipments</a:t>
            </a:r>
            <a:endParaRPr lang="en-US" sz="1500" dirty="0"/>
          </a:p>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cancelled</a:t>
            </a:r>
            <a:endParaRPr lang="en-US" sz="1500" dirty="0"/>
          </a:p>
        </p:txBody>
      </p:sp>
      <p:sp>
        <p:nvSpPr>
          <p:cNvPr id="15" name="Text 13"/>
          <p:cNvSpPr/>
          <p:nvPr/>
        </p:nvSpPr>
        <p:spPr>
          <a:xfrm>
            <a:off x="6492240" y="3337560"/>
            <a:ext cx="2423160" cy="457200"/>
          </a:xfrm>
          <a:prstGeom prst="rect">
            <a:avLst/>
          </a:prstGeom>
          <a:noFill/>
          <a:ln/>
        </p:spPr>
        <p:txBody>
          <a:bodyPr wrap="square" lIns="0" tIns="0" rIns="0" bIns="0" rtlCol="0" anchor="ctr"/>
          <a:lstStyle/>
          <a:p>
            <a:pPr marL="0" indent="0" algn="ctr">
              <a:buNone/>
            </a:pPr>
            <a:r>
              <a:rPr lang="en-US" sz="1100" i="1" dirty="0">
                <a:solidFill>
                  <a:srgbClr val="9AA7BD"/>
                </a:solidFill>
                <a:latin typeface="Calibri" pitchFamily="34" charset="0"/>
                <a:ea typeface="Calibri" pitchFamily="34" charset="-122"/>
                <a:cs typeface="Calibri" pitchFamily="34" charset="-120"/>
              </a:rPr>
              <a:t>333 of 1,000 shipments</a:t>
            </a:r>
            <a:endParaRPr lang="en-US" sz="1100" dirty="0"/>
          </a:p>
        </p:txBody>
      </p:sp>
      <p:sp>
        <p:nvSpPr>
          <p:cNvPr id="16" name="Shape 14"/>
          <p:cNvSpPr/>
          <p:nvPr/>
        </p:nvSpPr>
        <p:spPr>
          <a:xfrm>
            <a:off x="9281160" y="1554480"/>
            <a:ext cx="2697480" cy="2331720"/>
          </a:xfrm>
          <a:prstGeom prst="roundRect">
            <a:avLst>
              <a:gd name="adj" fmla="val 3137"/>
            </a:avLst>
          </a:prstGeom>
          <a:solidFill>
            <a:srgbClr val="1B2A4A"/>
          </a:solidFill>
          <a:ln/>
        </p:spPr>
      </p:sp>
      <p:sp>
        <p:nvSpPr>
          <p:cNvPr id="17" name="Text 15"/>
          <p:cNvSpPr/>
          <p:nvPr/>
        </p:nvSpPr>
        <p:spPr>
          <a:xfrm>
            <a:off x="9281160" y="1783080"/>
            <a:ext cx="2697480" cy="914400"/>
          </a:xfrm>
          <a:prstGeom prst="rect">
            <a:avLst/>
          </a:prstGeom>
          <a:noFill/>
          <a:ln/>
        </p:spPr>
        <p:txBody>
          <a:bodyPr wrap="square" lIns="0" tIns="0" rIns="0" bIns="0" rtlCol="0" anchor="ctr"/>
          <a:lstStyle/>
          <a:p>
            <a:pPr marL="0" indent="0" algn="ctr">
              <a:buNone/>
            </a:pPr>
            <a:r>
              <a:rPr lang="en-US" sz="4600" b="1" dirty="0">
                <a:solidFill>
                  <a:srgbClr val="E0954D"/>
                </a:solidFill>
                <a:latin typeface="Cambria" pitchFamily="34" charset="0"/>
                <a:ea typeface="Cambria" pitchFamily="34" charset="-122"/>
                <a:cs typeface="Cambria" pitchFamily="34" charset="-120"/>
              </a:rPr>
              <a:t>50%</a:t>
            </a:r>
            <a:endParaRPr lang="en-US" sz="4600" dirty="0"/>
          </a:p>
        </p:txBody>
      </p:sp>
      <p:sp>
        <p:nvSpPr>
          <p:cNvPr id="18" name="Text 16"/>
          <p:cNvSpPr/>
          <p:nvPr/>
        </p:nvSpPr>
        <p:spPr>
          <a:xfrm>
            <a:off x="9418320" y="2697480"/>
            <a:ext cx="2423160" cy="594360"/>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Shipments</a:t>
            </a:r>
            <a:endParaRPr lang="en-US" sz="1500" dirty="0"/>
          </a:p>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unpaid</a:t>
            </a:r>
            <a:endParaRPr lang="en-US" sz="1500" dirty="0"/>
          </a:p>
        </p:txBody>
      </p:sp>
      <p:sp>
        <p:nvSpPr>
          <p:cNvPr id="19" name="Text 17"/>
          <p:cNvSpPr/>
          <p:nvPr/>
        </p:nvSpPr>
        <p:spPr>
          <a:xfrm>
            <a:off x="9418320" y="3337560"/>
            <a:ext cx="2423160" cy="457200"/>
          </a:xfrm>
          <a:prstGeom prst="rect">
            <a:avLst/>
          </a:prstGeom>
          <a:noFill/>
          <a:ln/>
        </p:spPr>
        <p:txBody>
          <a:bodyPr wrap="square" lIns="0" tIns="0" rIns="0" bIns="0" rtlCol="0" anchor="ctr"/>
          <a:lstStyle/>
          <a:p>
            <a:pPr marL="0" indent="0" algn="ctr">
              <a:buNone/>
            </a:pPr>
            <a:r>
              <a:rPr lang="en-GB" sz="1100" i="1" dirty="0">
                <a:solidFill>
                  <a:srgbClr val="9AA7BD"/>
                </a:solidFill>
                <a:latin typeface="Calibri" pitchFamily="34" charset="0"/>
                <a:ea typeface="Calibri" pitchFamily="34" charset="-122"/>
                <a:cs typeface="Calibri" pitchFamily="34" charset="-120"/>
              </a:rPr>
              <a:t>Profit to acquire</a:t>
            </a:r>
            <a:endParaRPr lang="en-US" sz="1100" dirty="0"/>
          </a:p>
        </p:txBody>
      </p:sp>
      <p:sp>
        <p:nvSpPr>
          <p:cNvPr id="20" name="Shape 18"/>
          <p:cNvSpPr/>
          <p:nvPr/>
        </p:nvSpPr>
        <p:spPr>
          <a:xfrm>
            <a:off x="502920" y="4160520"/>
            <a:ext cx="11201400" cy="2057400"/>
          </a:xfrm>
          <a:prstGeom prst="roundRect">
            <a:avLst>
              <a:gd name="adj" fmla="val 3556"/>
            </a:avLst>
          </a:prstGeom>
          <a:solidFill>
            <a:srgbClr val="3D5A80">
              <a:alpha val="25000"/>
            </a:srgbClr>
          </a:solidFill>
          <a:ln w="12700">
            <a:solidFill>
              <a:srgbClr val="E0954D"/>
            </a:solidFill>
            <a:prstDash val="solid"/>
          </a:ln>
        </p:spPr>
      </p:sp>
      <p:pic>
        <p:nvPicPr>
          <p:cNvPr id="21" name="Image 0" descr="preencoded.png"/>
          <p:cNvPicPr>
            <a:picLocks noChangeAspect="1"/>
          </p:cNvPicPr>
          <p:nvPr/>
        </p:nvPicPr>
        <p:blipFill>
          <a:blip r:embed="rId3"/>
          <a:stretch>
            <a:fillRect/>
          </a:stretch>
        </p:blipFill>
        <p:spPr>
          <a:xfrm>
            <a:off x="777240" y="4434840"/>
            <a:ext cx="457200" cy="457200"/>
          </a:xfrm>
          <a:prstGeom prst="rect">
            <a:avLst/>
          </a:prstGeom>
        </p:spPr>
      </p:pic>
      <p:sp>
        <p:nvSpPr>
          <p:cNvPr id="22" name="Text 19"/>
          <p:cNvSpPr/>
          <p:nvPr/>
        </p:nvSpPr>
        <p:spPr>
          <a:xfrm>
            <a:off x="1417320" y="4434840"/>
            <a:ext cx="7315200" cy="320040"/>
          </a:xfrm>
          <a:prstGeom prst="rect">
            <a:avLst/>
          </a:prstGeom>
          <a:noFill/>
          <a:ln/>
        </p:spPr>
        <p:txBody>
          <a:bodyPr wrap="square" lIns="0" tIns="0" rIns="0" bIns="0" rtlCol="0" anchor="ctr"/>
          <a:lstStyle/>
          <a:p>
            <a:pPr marL="0" indent="0">
              <a:buNone/>
            </a:pPr>
            <a:r>
              <a:rPr lang="en-US" sz="1300" dirty="0">
                <a:solidFill>
                  <a:srgbClr val="FFC000"/>
                </a:solidFill>
              </a:rPr>
              <a:t>WARNING </a:t>
            </a:r>
          </a:p>
        </p:txBody>
      </p:sp>
      <p:sp>
        <p:nvSpPr>
          <p:cNvPr id="23" name="Text 20"/>
          <p:cNvSpPr/>
          <p:nvPr/>
        </p:nvSpPr>
        <p:spPr>
          <a:xfrm>
            <a:off x="1417320" y="4800600"/>
            <a:ext cx="10058400" cy="1280160"/>
          </a:xfrm>
          <a:prstGeom prst="rect">
            <a:avLst/>
          </a:prstGeom>
          <a:noFill/>
          <a:ln/>
        </p:spPr>
        <p:txBody>
          <a:bodyPr wrap="square" lIns="0" tIns="0" rIns="0" bIns="0" rtlCol="0" anchor="ctr"/>
          <a:lstStyle/>
          <a:p>
            <a:pPr marL="0" indent="0">
              <a:lnSpc>
                <a:spcPct val="130000"/>
              </a:lnSpc>
              <a:buNone/>
            </a:pPr>
            <a:r>
              <a:rPr lang="en-US" sz="1600" i="1" dirty="0">
                <a:solidFill>
                  <a:srgbClr val="FFFFFF"/>
                </a:solidFill>
                <a:latin typeface="Cambria" pitchFamily="34" charset="0"/>
                <a:ea typeface="Cambria" pitchFamily="34" charset="-122"/>
                <a:cs typeface="Cambria" pitchFamily="34" charset="-120"/>
              </a:rPr>
              <a:t>“For every 3 shipments PrimeProcure handles, only 1 is successfully delivered. The other 2 are either delayed or cancelled. At the same time, half of all shipments remain unpaid by defaulting customers. These two issues represent the single biggest risk to the company's operations and cash flow today, and they are the focus of this review.”</a:t>
            </a:r>
            <a:endParaRPr lang="en-US" sz="1600" dirty="0"/>
          </a:p>
        </p:txBody>
      </p:sp>
      <p:sp>
        <p:nvSpPr>
          <p:cNvPr id="24" name="Text 21"/>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3</a:t>
            </a:r>
            <a:endParaRPr lang="en-US" sz="1000" dirty="0"/>
          </a:p>
        </p:txBody>
      </p:sp>
      <p:sp>
        <p:nvSpPr>
          <p:cNvPr id="25" name="Text 22"/>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8778240" y="-2560320"/>
            <a:ext cx="5486400" cy="5486400"/>
          </a:xfrm>
          <a:prstGeom prst="ellipse">
            <a:avLst/>
          </a:prstGeom>
          <a:solidFill>
            <a:srgbClr val="1B2A4A">
              <a:alpha val="60000"/>
            </a:srgbClr>
          </a:solidFill>
          <a:ln/>
        </p:spPr>
      </p:sp>
      <p:sp>
        <p:nvSpPr>
          <p:cNvPr id="3" name="Shape 1"/>
          <p:cNvSpPr/>
          <p:nvPr/>
        </p:nvSpPr>
        <p:spPr>
          <a:xfrm>
            <a:off x="-2286000" y="4114800"/>
            <a:ext cx="5029200" cy="5029200"/>
          </a:xfrm>
          <a:prstGeom prst="ellipse">
            <a:avLst/>
          </a:prstGeom>
          <a:solidFill>
            <a:srgbClr val="3D5A80">
              <a:alpha val="35000"/>
            </a:srgbClr>
          </a:solidFill>
          <a:ln/>
        </p:spPr>
      </p:sp>
      <p:sp>
        <p:nvSpPr>
          <p:cNvPr id="4" name="Text 2"/>
          <p:cNvSpPr/>
          <p:nvPr/>
        </p:nvSpPr>
        <p:spPr>
          <a:xfrm>
            <a:off x="8778240" y="320040"/>
            <a:ext cx="2926080" cy="2926080"/>
          </a:xfrm>
          <a:prstGeom prst="rect">
            <a:avLst/>
          </a:prstGeom>
          <a:noFill/>
          <a:ln/>
        </p:spPr>
        <p:txBody>
          <a:bodyPr wrap="square" lIns="0" tIns="0" rIns="0" bIns="0" rtlCol="0" anchor="ctr"/>
          <a:lstStyle/>
          <a:p>
            <a:pPr marL="0" indent="0" algn="ctr">
              <a:buNone/>
            </a:pPr>
            <a:r>
              <a:rPr lang="en-US" sz="18000" b="1" dirty="0">
                <a:solidFill>
                  <a:srgbClr val="1B2A4A"/>
                </a:solidFill>
                <a:latin typeface="Cambria" pitchFamily="34" charset="0"/>
                <a:ea typeface="Cambria" pitchFamily="34" charset="-122"/>
                <a:cs typeface="Cambria" pitchFamily="34" charset="-120"/>
              </a:rPr>
              <a:t>3</a:t>
            </a:r>
            <a:endParaRPr lang="en-US" sz="18000" dirty="0"/>
          </a:p>
        </p:txBody>
      </p:sp>
      <p:sp>
        <p:nvSpPr>
          <p:cNvPr id="5" name="Shape 3"/>
          <p:cNvSpPr/>
          <p:nvPr/>
        </p:nvSpPr>
        <p:spPr>
          <a:xfrm>
            <a:off x="822960" y="685800"/>
            <a:ext cx="822960" cy="822960"/>
          </a:xfrm>
          <a:prstGeom prst="ellipse">
            <a:avLst/>
          </a:prstGeom>
          <a:solidFill>
            <a:srgbClr val="E0954D"/>
          </a:solidFill>
          <a:ln/>
        </p:spPr>
      </p:sp>
      <p:pic>
        <p:nvPicPr>
          <p:cNvPr id="6" name="Image 0" descr="preencoded.png"/>
          <p:cNvPicPr>
            <a:picLocks noChangeAspect="1"/>
          </p:cNvPicPr>
          <p:nvPr/>
        </p:nvPicPr>
        <p:blipFill>
          <a:blip r:embed="rId3"/>
          <a:stretch>
            <a:fillRect/>
          </a:stretch>
        </p:blipFill>
        <p:spPr>
          <a:xfrm>
            <a:off x="1033272" y="896112"/>
            <a:ext cx="402336" cy="402336"/>
          </a:xfrm>
          <a:prstGeom prst="rect">
            <a:avLst/>
          </a:prstGeom>
        </p:spPr>
      </p:pic>
      <p:sp>
        <p:nvSpPr>
          <p:cNvPr id="7" name="Text 4"/>
          <p:cNvSpPr/>
          <p:nvPr/>
        </p:nvSpPr>
        <p:spPr>
          <a:xfrm>
            <a:off x="1783080" y="713232"/>
            <a:ext cx="5486400" cy="320040"/>
          </a:xfrm>
          <a:prstGeom prst="rect">
            <a:avLst/>
          </a:prstGeom>
          <a:noFill/>
          <a:ln/>
        </p:spPr>
        <p:txBody>
          <a:bodyPr wrap="square" lIns="0" tIns="0" rIns="0" bIns="0" rtlCol="0" anchor="ctr"/>
          <a:lstStyle/>
          <a:p>
            <a:pPr marL="0" indent="0">
              <a:buNone/>
            </a:pPr>
            <a:r>
              <a:rPr lang="en-US" sz="1400" b="1" kern="0" spc="300" dirty="0">
                <a:solidFill>
                  <a:srgbClr val="E0954D"/>
                </a:solidFill>
                <a:latin typeface="Calibri" pitchFamily="34" charset="0"/>
                <a:ea typeface="Calibri" pitchFamily="34" charset="-122"/>
                <a:cs typeface="Calibri" pitchFamily="34" charset="-120"/>
              </a:rPr>
              <a:t>DASHBOARD 1</a:t>
            </a:r>
            <a:endParaRPr lang="en-US" sz="1400" dirty="0"/>
          </a:p>
        </p:txBody>
      </p:sp>
      <p:sp>
        <p:nvSpPr>
          <p:cNvPr id="8" name="Text 5"/>
          <p:cNvSpPr/>
          <p:nvPr/>
        </p:nvSpPr>
        <p:spPr>
          <a:xfrm>
            <a:off x="1783080" y="1024128"/>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Delivery Performance Analysis</a:t>
            </a:r>
            <a:endParaRPr lang="en-US" sz="3200" dirty="0"/>
          </a:p>
        </p:txBody>
      </p:sp>
      <p:sp>
        <p:nvSpPr>
          <p:cNvPr id="9" name="Text 6"/>
          <p:cNvSpPr/>
          <p:nvPr/>
        </p:nvSpPr>
        <p:spPr>
          <a:xfrm>
            <a:off x="822960" y="2331720"/>
            <a:ext cx="5486400" cy="320040"/>
          </a:xfrm>
          <a:prstGeom prst="rect">
            <a:avLst/>
          </a:prstGeom>
          <a:noFill/>
          <a:ln/>
        </p:spPr>
        <p:txBody>
          <a:bodyPr wrap="square" lIns="0" tIns="0" rIns="0" bIns="0" rtlCol="0" anchor="ctr"/>
          <a:lstStyle/>
          <a:p>
            <a:pPr marL="0" indent="0">
              <a:buNone/>
            </a:pPr>
            <a:r>
              <a:rPr lang="en-US" sz="1200" b="1" kern="0" spc="250" dirty="0">
                <a:solidFill>
                  <a:srgbClr val="7E93B8"/>
                </a:solidFill>
                <a:latin typeface="Calibri" pitchFamily="34" charset="0"/>
                <a:ea typeface="Calibri" pitchFamily="34" charset="-122"/>
                <a:cs typeface="Calibri" pitchFamily="34" charset="-120"/>
              </a:rPr>
              <a:t>THE STORY SO FAR</a:t>
            </a:r>
            <a:endParaRPr lang="en-US" sz="1200" dirty="0"/>
          </a:p>
        </p:txBody>
      </p:sp>
      <p:sp>
        <p:nvSpPr>
          <p:cNvPr id="10" name="Text 7"/>
          <p:cNvSpPr/>
          <p:nvPr/>
        </p:nvSpPr>
        <p:spPr>
          <a:xfrm>
            <a:off x="822960" y="2697480"/>
            <a:ext cx="8778240" cy="1828800"/>
          </a:xfrm>
          <a:prstGeom prst="rect">
            <a:avLst/>
          </a:prstGeom>
          <a:noFill/>
          <a:ln/>
        </p:spPr>
        <p:txBody>
          <a:bodyPr wrap="square" lIns="0" tIns="0" rIns="0" bIns="0" rtlCol="0" anchor="ctr"/>
          <a:lstStyle/>
          <a:p>
            <a:pPr marL="0" indent="0">
              <a:lnSpc>
                <a:spcPct val="135000"/>
              </a:lnSpc>
              <a:buNone/>
            </a:pPr>
            <a:r>
              <a:rPr lang="en-US" sz="1800" dirty="0">
                <a:solidFill>
                  <a:srgbClr val="DCE4F2"/>
                </a:solidFill>
                <a:latin typeface="Cambria" pitchFamily="34" charset="0"/>
                <a:ea typeface="Cambria" pitchFamily="34" charset="-122"/>
                <a:cs typeface="Cambria" pitchFamily="34" charset="-120"/>
              </a:rPr>
              <a:t>A shipment can end in only one of three ways: it is delivered, it is delayed, or it is cancelled outright. This dashboard takes an honest look at how often each of these outcomes actually happens across our 1,000 shipments, what is driving the delays behind the scenes, and how the different transport modes compare when it comes to speed.</a:t>
            </a:r>
            <a:endParaRPr lang="en-US" sz="1800" dirty="0"/>
          </a:p>
        </p:txBody>
      </p:sp>
      <p:sp>
        <p:nvSpPr>
          <p:cNvPr id="11" name="Shape 8"/>
          <p:cNvSpPr/>
          <p:nvPr/>
        </p:nvSpPr>
        <p:spPr>
          <a:xfrm>
            <a:off x="822960" y="4800600"/>
            <a:ext cx="10561320" cy="1234440"/>
          </a:xfrm>
          <a:prstGeom prst="roundRect">
            <a:avLst>
              <a:gd name="adj" fmla="val 5926"/>
            </a:avLst>
          </a:prstGeom>
          <a:solidFill>
            <a:srgbClr val="1B2A4A"/>
          </a:solidFill>
          <a:ln w="12700">
            <a:solidFill>
              <a:srgbClr val="E0954D"/>
            </a:solidFill>
            <a:prstDash val="solid"/>
          </a:ln>
        </p:spPr>
      </p:sp>
      <p:sp>
        <p:nvSpPr>
          <p:cNvPr id="12" name="Text 9"/>
          <p:cNvSpPr/>
          <p:nvPr/>
        </p:nvSpPr>
        <p:spPr>
          <a:xfrm>
            <a:off x="1097280" y="4983480"/>
            <a:ext cx="10058400" cy="320040"/>
          </a:xfrm>
          <a:prstGeom prst="rect">
            <a:avLst/>
          </a:prstGeom>
          <a:noFill/>
          <a:ln/>
        </p:spPr>
        <p:txBody>
          <a:bodyPr wrap="square" lIns="0" tIns="0" rIns="0" bIns="0" rtlCol="0" anchor="ctr"/>
          <a:lstStyle/>
          <a:p>
            <a:pPr marL="0" indent="0">
              <a:buNone/>
            </a:pPr>
            <a:r>
              <a:rPr lang="en-US" sz="1200" b="1" kern="0" spc="200" dirty="0">
                <a:solidFill>
                  <a:srgbClr val="E0954D"/>
                </a:solidFill>
                <a:latin typeface="Calibri" pitchFamily="34" charset="0"/>
                <a:ea typeface="Calibri" pitchFamily="34" charset="-122"/>
                <a:cs typeface="Calibri" pitchFamily="34" charset="-120"/>
              </a:rPr>
              <a:t>THE QUESTION THIS DASHBOARD ANSWERS</a:t>
            </a:r>
            <a:endParaRPr lang="en-US" sz="1200" dirty="0"/>
          </a:p>
        </p:txBody>
      </p:sp>
      <p:sp>
        <p:nvSpPr>
          <p:cNvPr id="13" name="Text 10"/>
          <p:cNvSpPr/>
          <p:nvPr/>
        </p:nvSpPr>
        <p:spPr>
          <a:xfrm>
            <a:off x="1097280" y="5303520"/>
            <a:ext cx="10058400" cy="640080"/>
          </a:xfrm>
          <a:prstGeom prst="rect">
            <a:avLst/>
          </a:prstGeom>
          <a:noFill/>
          <a:ln/>
        </p:spPr>
        <p:txBody>
          <a:bodyPr wrap="square" lIns="0" tIns="0" rIns="0" bIns="0" rtlCol="0" anchor="ctr"/>
          <a:lstStyle/>
          <a:p>
            <a:pPr marL="0" indent="0">
              <a:buNone/>
            </a:pPr>
            <a:r>
              <a:rPr lang="en-US" sz="1900" b="1" i="1" dirty="0">
                <a:solidFill>
                  <a:srgbClr val="FFFFFF"/>
                </a:solidFill>
                <a:latin typeface="Cambria" pitchFamily="34" charset="0"/>
                <a:ea typeface="Cambria" pitchFamily="34" charset="-122"/>
                <a:cs typeface="Cambria" pitchFamily="34" charset="-120"/>
              </a:rPr>
              <a:t>How well are we really completing deliveries, and what are the biggest reasons shipments fail?</a:t>
            </a:r>
            <a:endParaRPr lang="en-US" sz="1900" dirty="0"/>
          </a:p>
        </p:txBody>
      </p:sp>
      <p:sp>
        <p:nvSpPr>
          <p:cNvPr id="14" name="Text 11"/>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8</a:t>
            </a:r>
            <a:endParaRPr lang="en-US" sz="1000" dirty="0"/>
          </a:p>
        </p:txBody>
      </p:sp>
      <p:sp>
        <p:nvSpPr>
          <p:cNvPr id="15" name="Text 12"/>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11480"/>
            <a:ext cx="640080" cy="640080"/>
          </a:xfrm>
          <a:prstGeom prst="ellipse">
            <a:avLst/>
          </a:prstGeom>
          <a:solidFill>
            <a:srgbClr val="1B2A4A"/>
          </a:solidFill>
          <a:ln/>
        </p:spPr>
      </p:sp>
      <p:pic>
        <p:nvPicPr>
          <p:cNvPr id="3" name="Image 0" descr="preencoded.png"/>
          <p:cNvPicPr>
            <a:picLocks noChangeAspect="1"/>
          </p:cNvPicPr>
          <p:nvPr/>
        </p:nvPicPr>
        <p:blipFill>
          <a:blip r:embed="rId3"/>
          <a:stretch>
            <a:fillRect/>
          </a:stretch>
        </p:blipFill>
        <p:spPr>
          <a:xfrm>
            <a:off x="658368" y="566928"/>
            <a:ext cx="329184" cy="329184"/>
          </a:xfrm>
          <a:prstGeom prst="rect">
            <a:avLst/>
          </a:prstGeom>
        </p:spPr>
      </p:pic>
      <p:sp>
        <p:nvSpPr>
          <p:cNvPr id="4" name="Text 1"/>
          <p:cNvSpPr/>
          <p:nvPr/>
        </p:nvSpPr>
        <p:spPr>
          <a:xfrm>
            <a:off x="1280160" y="384048"/>
            <a:ext cx="3657600" cy="27432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DASHBOARD 1</a:t>
            </a:r>
            <a:endParaRPr lang="en-US" sz="1300" dirty="0"/>
          </a:p>
        </p:txBody>
      </p:sp>
      <p:sp>
        <p:nvSpPr>
          <p:cNvPr id="5" name="Text 2"/>
          <p:cNvSpPr/>
          <p:nvPr/>
        </p:nvSpPr>
        <p:spPr>
          <a:xfrm>
            <a:off x="1280160" y="621792"/>
            <a:ext cx="8229600" cy="50292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Delivery Performance Analysis</a:t>
            </a:r>
            <a:endParaRPr lang="en-US" sz="2800" dirty="0"/>
          </a:p>
        </p:txBody>
      </p:sp>
      <p:sp>
        <p:nvSpPr>
          <p:cNvPr id="6" name="Text 3"/>
          <p:cNvSpPr/>
          <p:nvPr/>
        </p:nvSpPr>
        <p:spPr>
          <a:xfrm>
            <a:off x="1280160" y="1115568"/>
            <a:ext cx="10058400" cy="320040"/>
          </a:xfrm>
          <a:prstGeom prst="rect">
            <a:avLst/>
          </a:prstGeom>
          <a:noFill/>
          <a:ln/>
        </p:spPr>
        <p:txBody>
          <a:bodyPr wrap="square" lIns="0" tIns="0" rIns="0" bIns="0" rtlCol="0" anchor="ctr"/>
          <a:lstStyle/>
          <a:p>
            <a:pPr marL="0" indent="0">
              <a:buNone/>
            </a:pPr>
            <a:r>
              <a:rPr lang="en-US" sz="1300" i="1" dirty="0">
                <a:solidFill>
                  <a:srgbClr val="5B6B82"/>
                </a:solidFill>
                <a:latin typeface="Calibri" pitchFamily="34" charset="0"/>
                <a:ea typeface="Calibri" pitchFamily="34" charset="-122"/>
                <a:cs typeface="Calibri" pitchFamily="34" charset="-120"/>
              </a:rPr>
              <a:t>How well are shipments actually being completed, and why do they fail?</a:t>
            </a:r>
            <a:endParaRPr lang="en-US" sz="1300" dirty="0"/>
          </a:p>
        </p:txBody>
      </p:sp>
      <p:sp>
        <p:nvSpPr>
          <p:cNvPr id="7" name="Text 4"/>
          <p:cNvSpPr/>
          <p:nvPr/>
        </p:nvSpPr>
        <p:spPr>
          <a:xfrm>
            <a:off x="502920" y="1691640"/>
            <a:ext cx="365760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SHIPMENT STATUS DISTRIBUTION</a:t>
            </a:r>
            <a:endParaRPr lang="en-US" sz="1300" dirty="0"/>
          </a:p>
        </p:txBody>
      </p:sp>
      <p:graphicFrame>
        <p:nvGraphicFramePr>
          <p:cNvPr id="8" name="Chart 0"/>
          <p:cNvGraphicFramePr/>
          <p:nvPr/>
        </p:nvGraphicFramePr>
        <p:xfrm>
          <a:off x="502920" y="2011680"/>
          <a:ext cx="393192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02920" y="4892040"/>
            <a:ext cx="3931920" cy="1234440"/>
          </a:xfrm>
          <a:prstGeom prst="roundRect">
            <a:avLst>
              <a:gd name="adj" fmla="val 4444"/>
            </a:avLst>
          </a:prstGeom>
          <a:solidFill>
            <a:srgbClr val="C0392B">
              <a:alpha val="12000"/>
            </a:srgbClr>
          </a:solidFill>
          <a:ln w="12700">
            <a:solidFill>
              <a:srgbClr val="C0392B"/>
            </a:solidFill>
            <a:prstDash val="solid"/>
          </a:ln>
        </p:spPr>
      </p:sp>
      <p:sp>
        <p:nvSpPr>
          <p:cNvPr id="10" name="Text 6"/>
          <p:cNvSpPr/>
          <p:nvPr/>
        </p:nvSpPr>
        <p:spPr>
          <a:xfrm>
            <a:off x="731520" y="5029200"/>
            <a:ext cx="3474720" cy="960120"/>
          </a:xfrm>
          <a:prstGeom prst="rect">
            <a:avLst/>
          </a:prstGeom>
          <a:noFill/>
          <a:ln/>
        </p:spPr>
        <p:txBody>
          <a:bodyPr wrap="square" lIns="0" tIns="0" rIns="0" bIns="0" rtlCol="0" anchor="ctr"/>
          <a:lstStyle/>
          <a:p>
            <a:pPr marL="0" indent="0">
              <a:lnSpc>
                <a:spcPct val="120000"/>
              </a:lnSpc>
              <a:buNone/>
            </a:pPr>
            <a:r>
              <a:rPr lang="en-US" sz="1350" b="1" i="1" dirty="0">
                <a:solidFill>
                  <a:srgbClr val="C0392B"/>
                </a:solidFill>
                <a:latin typeface="Cambria" pitchFamily="34" charset="0"/>
                <a:ea typeface="Cambria" pitchFamily="34" charset="-122"/>
                <a:cs typeface="Cambria" pitchFamily="34" charset="-120"/>
              </a:rPr>
              <a:t>Only 1 in 3 shipments is successfully delivered — the other 2 are split almost evenly between delayed and cancelled.</a:t>
            </a:r>
            <a:endParaRPr lang="en-US" sz="1350" dirty="0"/>
          </a:p>
        </p:txBody>
      </p:sp>
      <p:sp>
        <p:nvSpPr>
          <p:cNvPr id="11" name="Text 7"/>
          <p:cNvSpPr/>
          <p:nvPr/>
        </p:nvSpPr>
        <p:spPr>
          <a:xfrm>
            <a:off x="4663440" y="1691640"/>
            <a:ext cx="365760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TOP CAUSES OF DELAY (occurrences)</a:t>
            </a:r>
            <a:endParaRPr lang="en-US" sz="1300" dirty="0"/>
          </a:p>
        </p:txBody>
      </p:sp>
      <p:graphicFrame>
        <p:nvGraphicFramePr>
          <p:cNvPr id="12" name="Chart 1"/>
          <p:cNvGraphicFramePr/>
          <p:nvPr>
            <p:extLst>
              <p:ext uri="{D42A27DB-BD31-4B8C-83A1-F6EECF244321}">
                <p14:modId xmlns:p14="http://schemas.microsoft.com/office/powerpoint/2010/main" val="22473593"/>
              </p:ext>
            </p:extLst>
          </p:nvPr>
        </p:nvGraphicFramePr>
        <p:xfrm>
          <a:off x="4572000" y="2011680"/>
          <a:ext cx="3931920" cy="2331720"/>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 8"/>
          <p:cNvSpPr/>
          <p:nvPr/>
        </p:nvSpPr>
        <p:spPr>
          <a:xfrm>
            <a:off x="4663440" y="4526280"/>
            <a:ext cx="365760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AVG. DELIVERY DAYS BY MODE</a:t>
            </a:r>
            <a:endParaRPr lang="en-US" sz="1300" dirty="0"/>
          </a:p>
        </p:txBody>
      </p:sp>
      <p:graphicFrame>
        <p:nvGraphicFramePr>
          <p:cNvPr id="14" name="Chart 2"/>
          <p:cNvGraphicFramePr/>
          <p:nvPr/>
        </p:nvGraphicFramePr>
        <p:xfrm>
          <a:off x="4572000" y="4800600"/>
          <a:ext cx="3931920" cy="1600200"/>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 9"/>
          <p:cNvSpPr/>
          <p:nvPr/>
        </p:nvSpPr>
        <p:spPr>
          <a:xfrm>
            <a:off x="8823960" y="1691640"/>
            <a:ext cx="292608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KEY FINDINGS</a:t>
            </a:r>
            <a:endParaRPr lang="en-US" sz="1300" dirty="0"/>
          </a:p>
        </p:txBody>
      </p:sp>
      <p:sp>
        <p:nvSpPr>
          <p:cNvPr id="16" name="Text 10"/>
          <p:cNvSpPr/>
          <p:nvPr/>
        </p:nvSpPr>
        <p:spPr>
          <a:xfrm>
            <a:off x="8823960" y="2011680"/>
            <a:ext cx="2926080" cy="228600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Only 33.6% of shipments are delivered successfully.</a:t>
            </a:r>
            <a:endParaRPr lang="en-US" sz="1200" dirty="0"/>
          </a:p>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Mechanical issues caused 54 delays — 100% preventable with maintenance.</a:t>
            </a:r>
            <a:endParaRPr lang="en-US" sz="1200" dirty="0"/>
          </a:p>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Air is the slowest mode (4.10 days) — unexpected and worth investigating.</a:t>
            </a:r>
            <a:endParaRPr lang="en-US" sz="1200" dirty="0"/>
          </a:p>
        </p:txBody>
      </p:sp>
      <p:sp>
        <p:nvSpPr>
          <p:cNvPr id="17" name="Text 11"/>
          <p:cNvSpPr/>
          <p:nvPr/>
        </p:nvSpPr>
        <p:spPr>
          <a:xfrm>
            <a:off x="8823960" y="4434840"/>
            <a:ext cx="2926080" cy="292608"/>
          </a:xfrm>
          <a:prstGeom prst="rect">
            <a:avLst/>
          </a:prstGeom>
          <a:noFill/>
          <a:ln/>
        </p:spPr>
        <p:txBody>
          <a:bodyPr wrap="square" lIns="0" tIns="0" rIns="0" bIns="0" rtlCol="0" anchor="ctr"/>
          <a:lstStyle/>
          <a:p>
            <a:pPr marL="0" indent="0">
              <a:buNone/>
            </a:pPr>
            <a:r>
              <a:rPr lang="en-US" sz="1300" b="1" kern="0" spc="150" dirty="0">
                <a:solidFill>
                  <a:srgbClr val="3E8E5A"/>
                </a:solidFill>
                <a:latin typeface="Calibri" pitchFamily="34" charset="0"/>
                <a:ea typeface="Calibri" pitchFamily="34" charset="-122"/>
                <a:cs typeface="Calibri" pitchFamily="34" charset="-120"/>
              </a:rPr>
              <a:t>RECOMMENDATIONS</a:t>
            </a:r>
            <a:endParaRPr lang="en-US" sz="1300" dirty="0"/>
          </a:p>
        </p:txBody>
      </p:sp>
      <p:sp>
        <p:nvSpPr>
          <p:cNvPr id="18" name="Text 12"/>
          <p:cNvSpPr/>
          <p:nvPr/>
        </p:nvSpPr>
        <p:spPr>
          <a:xfrm>
            <a:off x="8823960" y="4754880"/>
            <a:ext cx="2926080" cy="169164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Target: raise on-time delivery from 33.6% to 60% within 6 months.</a:t>
            </a:r>
            <a:endParaRPr lang="en-US" sz="1200" dirty="0"/>
          </a:p>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Introduce mandatory vehicle maintenance scheduling.</a:t>
            </a:r>
            <a:endParaRPr lang="en-US" sz="1200" dirty="0"/>
          </a:p>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Investigate the 33.3% cancellation rate as a separate root-cause project.</a:t>
            </a:r>
            <a:endParaRPr lang="en-US" sz="1200" dirty="0"/>
          </a:p>
        </p:txBody>
      </p:sp>
      <p:sp>
        <p:nvSpPr>
          <p:cNvPr id="19" name="Text 13"/>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9</a:t>
            </a:r>
            <a:endParaRPr lang="en-US" sz="1000" dirty="0"/>
          </a:p>
        </p:txBody>
      </p:sp>
      <p:sp>
        <p:nvSpPr>
          <p:cNvPr id="20" name="Text 14"/>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
        <p:nvSpPr>
          <p:cNvPr id="21" name="TextBox 20">
            <a:extLst>
              <a:ext uri="{FF2B5EF4-FFF2-40B4-BE49-F238E27FC236}">
                <a16:creationId xmlns:a16="http://schemas.microsoft.com/office/drawing/2014/main" id="{B7816ECB-1528-4FE0-8E87-561240A7C5C6}"/>
              </a:ext>
            </a:extLst>
          </p:cNvPr>
          <p:cNvSpPr txBox="1"/>
          <p:nvPr/>
        </p:nvSpPr>
        <p:spPr>
          <a:xfrm>
            <a:off x="4358968" y="2239112"/>
            <a:ext cx="1274325" cy="276999"/>
          </a:xfrm>
          <a:prstGeom prst="rect">
            <a:avLst/>
          </a:prstGeom>
          <a:noFill/>
        </p:spPr>
        <p:txBody>
          <a:bodyPr wrap="square" rtlCol="0">
            <a:spAutoFit/>
          </a:bodyPr>
          <a:lstStyle/>
          <a:p>
            <a:r>
              <a:rPr lang="en-GB" sz="1200" dirty="0"/>
              <a:t>Mechanical</a:t>
            </a:r>
            <a:endParaRPr lang="en-US" sz="1200" dirty="0"/>
          </a:p>
        </p:txBody>
      </p:sp>
      <p:sp>
        <p:nvSpPr>
          <p:cNvPr id="22" name="TextBox 21">
            <a:extLst>
              <a:ext uri="{FF2B5EF4-FFF2-40B4-BE49-F238E27FC236}">
                <a16:creationId xmlns:a16="http://schemas.microsoft.com/office/drawing/2014/main" id="{E66C826F-BFAB-49C8-A2CA-E722A37CAB63}"/>
              </a:ext>
            </a:extLst>
          </p:cNvPr>
          <p:cNvSpPr txBox="1"/>
          <p:nvPr/>
        </p:nvSpPr>
        <p:spPr>
          <a:xfrm>
            <a:off x="4552544" y="3798448"/>
            <a:ext cx="1143000" cy="276999"/>
          </a:xfrm>
          <a:prstGeom prst="rect">
            <a:avLst/>
          </a:prstGeom>
          <a:noFill/>
        </p:spPr>
        <p:txBody>
          <a:bodyPr wrap="square" rtlCol="0">
            <a:spAutoFit/>
          </a:bodyPr>
          <a:lstStyle/>
          <a:p>
            <a:r>
              <a:rPr lang="en-GB" sz="1200" dirty="0"/>
              <a:t>Weather</a:t>
            </a:r>
            <a:endParaRPr lang="en-US" sz="1200" dirty="0"/>
          </a:p>
        </p:txBody>
      </p:sp>
      <p:sp>
        <p:nvSpPr>
          <p:cNvPr id="23" name="TextBox 22">
            <a:extLst>
              <a:ext uri="{FF2B5EF4-FFF2-40B4-BE49-F238E27FC236}">
                <a16:creationId xmlns:a16="http://schemas.microsoft.com/office/drawing/2014/main" id="{98766FC8-D690-4CA6-A6AD-22D9C00E3B66}"/>
              </a:ext>
            </a:extLst>
          </p:cNvPr>
          <p:cNvSpPr txBox="1"/>
          <p:nvPr/>
        </p:nvSpPr>
        <p:spPr>
          <a:xfrm>
            <a:off x="4486877" y="3274139"/>
            <a:ext cx="963038" cy="276999"/>
          </a:xfrm>
          <a:prstGeom prst="rect">
            <a:avLst/>
          </a:prstGeom>
          <a:noFill/>
        </p:spPr>
        <p:txBody>
          <a:bodyPr wrap="square" rtlCol="0">
            <a:spAutoFit/>
          </a:bodyPr>
          <a:lstStyle/>
          <a:p>
            <a:r>
              <a:rPr lang="en-GB" sz="1200" dirty="0"/>
              <a:t>Port Delay</a:t>
            </a:r>
            <a:endParaRPr lang="en-US" sz="1200" dirty="0"/>
          </a:p>
        </p:txBody>
      </p:sp>
      <p:sp>
        <p:nvSpPr>
          <p:cNvPr id="24" name="TextBox 23">
            <a:extLst>
              <a:ext uri="{FF2B5EF4-FFF2-40B4-BE49-F238E27FC236}">
                <a16:creationId xmlns:a16="http://schemas.microsoft.com/office/drawing/2014/main" id="{626E2343-E6D0-44B7-A04B-543D42F631A9}"/>
              </a:ext>
            </a:extLst>
          </p:cNvPr>
          <p:cNvSpPr txBox="1"/>
          <p:nvPr/>
        </p:nvSpPr>
        <p:spPr>
          <a:xfrm>
            <a:off x="4710610" y="2780453"/>
            <a:ext cx="1000976" cy="276999"/>
          </a:xfrm>
          <a:prstGeom prst="rect">
            <a:avLst/>
          </a:prstGeom>
          <a:noFill/>
        </p:spPr>
        <p:txBody>
          <a:bodyPr wrap="square" rtlCol="0">
            <a:spAutoFit/>
          </a:bodyPr>
          <a:lstStyle/>
          <a:p>
            <a:r>
              <a:rPr lang="en-GB" sz="1200" dirty="0"/>
              <a:t>Traffic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8778240" y="-2560320"/>
            <a:ext cx="5486400" cy="5486400"/>
          </a:xfrm>
          <a:prstGeom prst="ellipse">
            <a:avLst/>
          </a:prstGeom>
          <a:solidFill>
            <a:srgbClr val="1B2A4A">
              <a:alpha val="60000"/>
            </a:srgbClr>
          </a:solidFill>
          <a:ln/>
        </p:spPr>
      </p:sp>
      <p:sp>
        <p:nvSpPr>
          <p:cNvPr id="3" name="Shape 1"/>
          <p:cNvSpPr/>
          <p:nvPr/>
        </p:nvSpPr>
        <p:spPr>
          <a:xfrm>
            <a:off x="-2286000" y="4114800"/>
            <a:ext cx="5029200" cy="5029200"/>
          </a:xfrm>
          <a:prstGeom prst="ellipse">
            <a:avLst/>
          </a:prstGeom>
          <a:solidFill>
            <a:srgbClr val="3D5A80">
              <a:alpha val="35000"/>
            </a:srgbClr>
          </a:solidFill>
          <a:ln/>
        </p:spPr>
      </p:sp>
      <p:sp>
        <p:nvSpPr>
          <p:cNvPr id="4" name="Text 2"/>
          <p:cNvSpPr/>
          <p:nvPr/>
        </p:nvSpPr>
        <p:spPr>
          <a:xfrm>
            <a:off x="8778240" y="320040"/>
            <a:ext cx="2926080" cy="2926080"/>
          </a:xfrm>
          <a:prstGeom prst="rect">
            <a:avLst/>
          </a:prstGeom>
          <a:noFill/>
          <a:ln/>
        </p:spPr>
        <p:txBody>
          <a:bodyPr wrap="square" lIns="0" tIns="0" rIns="0" bIns="0" rtlCol="0" anchor="ctr"/>
          <a:lstStyle/>
          <a:p>
            <a:pPr marL="0" indent="0" algn="ctr">
              <a:buNone/>
            </a:pPr>
            <a:r>
              <a:rPr lang="en-US" sz="18000" b="1" dirty="0">
                <a:solidFill>
                  <a:srgbClr val="1B2A4A"/>
                </a:solidFill>
                <a:latin typeface="Cambria" pitchFamily="34" charset="0"/>
                <a:ea typeface="Cambria" pitchFamily="34" charset="-122"/>
                <a:cs typeface="Cambria" pitchFamily="34" charset="-120"/>
              </a:rPr>
              <a:t>1</a:t>
            </a:r>
            <a:endParaRPr lang="en-US" sz="18000" dirty="0"/>
          </a:p>
        </p:txBody>
      </p:sp>
      <p:sp>
        <p:nvSpPr>
          <p:cNvPr id="5" name="Shape 3"/>
          <p:cNvSpPr/>
          <p:nvPr/>
        </p:nvSpPr>
        <p:spPr>
          <a:xfrm>
            <a:off x="822960" y="685800"/>
            <a:ext cx="822960" cy="822960"/>
          </a:xfrm>
          <a:prstGeom prst="ellipse">
            <a:avLst/>
          </a:prstGeom>
          <a:solidFill>
            <a:srgbClr val="E0954D"/>
          </a:solidFill>
          <a:ln/>
        </p:spPr>
      </p:sp>
      <p:pic>
        <p:nvPicPr>
          <p:cNvPr id="6" name="Image 0" descr="preencoded.png"/>
          <p:cNvPicPr>
            <a:picLocks noChangeAspect="1"/>
          </p:cNvPicPr>
          <p:nvPr/>
        </p:nvPicPr>
        <p:blipFill>
          <a:blip r:embed="rId3"/>
          <a:stretch>
            <a:fillRect/>
          </a:stretch>
        </p:blipFill>
        <p:spPr>
          <a:xfrm>
            <a:off x="1033272" y="896112"/>
            <a:ext cx="402336" cy="402336"/>
          </a:xfrm>
          <a:prstGeom prst="rect">
            <a:avLst/>
          </a:prstGeom>
        </p:spPr>
      </p:pic>
      <p:sp>
        <p:nvSpPr>
          <p:cNvPr id="7" name="Text 4"/>
          <p:cNvSpPr/>
          <p:nvPr/>
        </p:nvSpPr>
        <p:spPr>
          <a:xfrm>
            <a:off x="1783080" y="713232"/>
            <a:ext cx="5486400" cy="320040"/>
          </a:xfrm>
          <a:prstGeom prst="rect">
            <a:avLst/>
          </a:prstGeom>
          <a:noFill/>
          <a:ln/>
        </p:spPr>
        <p:txBody>
          <a:bodyPr wrap="square" lIns="0" tIns="0" rIns="0" bIns="0" rtlCol="0" anchor="ctr"/>
          <a:lstStyle/>
          <a:p>
            <a:pPr marL="0" indent="0">
              <a:buNone/>
            </a:pPr>
            <a:r>
              <a:rPr lang="en-US" sz="1400" b="1" kern="0" spc="300" dirty="0">
                <a:solidFill>
                  <a:srgbClr val="E0954D"/>
                </a:solidFill>
                <a:latin typeface="Calibri" pitchFamily="34" charset="0"/>
                <a:ea typeface="Calibri" pitchFamily="34" charset="-122"/>
                <a:cs typeface="Calibri" pitchFamily="34" charset="-120"/>
              </a:rPr>
              <a:t>DASHBOARD 2</a:t>
            </a:r>
            <a:endParaRPr lang="en-US" sz="1400" dirty="0"/>
          </a:p>
        </p:txBody>
      </p:sp>
      <p:sp>
        <p:nvSpPr>
          <p:cNvPr id="8" name="Text 5"/>
          <p:cNvSpPr/>
          <p:nvPr/>
        </p:nvSpPr>
        <p:spPr>
          <a:xfrm>
            <a:off x="1856232" y="109728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Operations &amp; Logistics Analysis</a:t>
            </a:r>
            <a:endParaRPr lang="en-US" sz="3200" dirty="0"/>
          </a:p>
        </p:txBody>
      </p:sp>
      <p:sp>
        <p:nvSpPr>
          <p:cNvPr id="9" name="Text 6"/>
          <p:cNvSpPr/>
          <p:nvPr/>
        </p:nvSpPr>
        <p:spPr>
          <a:xfrm>
            <a:off x="822960" y="2331720"/>
            <a:ext cx="5486400" cy="320040"/>
          </a:xfrm>
          <a:prstGeom prst="rect">
            <a:avLst/>
          </a:prstGeom>
          <a:noFill/>
          <a:ln/>
        </p:spPr>
        <p:txBody>
          <a:bodyPr wrap="square" lIns="0" tIns="0" rIns="0" bIns="0" rtlCol="0" anchor="ctr"/>
          <a:lstStyle/>
          <a:p>
            <a:pPr marL="0" indent="0">
              <a:buNone/>
            </a:pPr>
            <a:r>
              <a:rPr lang="en-US" sz="1200" b="1" kern="0" spc="250" dirty="0">
                <a:solidFill>
                  <a:srgbClr val="7E93B8"/>
                </a:solidFill>
                <a:latin typeface="Calibri" pitchFamily="34" charset="0"/>
                <a:ea typeface="Calibri" pitchFamily="34" charset="-122"/>
                <a:cs typeface="Calibri" pitchFamily="34" charset="-120"/>
              </a:rPr>
              <a:t>THE STORY SO FAR</a:t>
            </a:r>
            <a:endParaRPr lang="en-US" sz="1200" dirty="0"/>
          </a:p>
        </p:txBody>
      </p:sp>
      <p:sp>
        <p:nvSpPr>
          <p:cNvPr id="10" name="Text 7"/>
          <p:cNvSpPr/>
          <p:nvPr/>
        </p:nvSpPr>
        <p:spPr>
          <a:xfrm>
            <a:off x="822960" y="2697480"/>
            <a:ext cx="8778240" cy="1828800"/>
          </a:xfrm>
          <a:prstGeom prst="rect">
            <a:avLst/>
          </a:prstGeom>
          <a:noFill/>
          <a:ln/>
        </p:spPr>
        <p:txBody>
          <a:bodyPr wrap="square" lIns="0" tIns="0" rIns="0" bIns="0" rtlCol="0" anchor="ctr"/>
          <a:lstStyle/>
          <a:p>
            <a:pPr marL="0" indent="0">
              <a:lnSpc>
                <a:spcPct val="135000"/>
              </a:lnSpc>
              <a:buNone/>
            </a:pPr>
            <a:r>
              <a:rPr lang="en-US" sz="1800" dirty="0">
                <a:solidFill>
                  <a:srgbClr val="DCE4F2"/>
                </a:solidFill>
                <a:latin typeface="Cambria" pitchFamily="34" charset="0"/>
                <a:ea typeface="Cambria" pitchFamily="34" charset="-122"/>
                <a:cs typeface="Cambria" pitchFamily="34" charset="-120"/>
              </a:rPr>
              <a:t>Every shipment that leaves a PrimeProcure warehouse depends on three things going right: the right vehicle, the right driver, and the right route. Across our network spanning Lagos, Abuja, Kano, Rivers, Ibadan </a:t>
            </a:r>
            <a:r>
              <a:rPr lang="en-US" dirty="0">
                <a:solidFill>
                  <a:srgbClr val="DCE4F2"/>
                </a:solidFill>
                <a:latin typeface="Cambria" pitchFamily="34" charset="0"/>
                <a:ea typeface="Cambria" pitchFamily="34" charset="-122"/>
                <a:cs typeface="Cambria" pitchFamily="34" charset="-120"/>
              </a:rPr>
              <a:t>,</a:t>
            </a:r>
            <a:r>
              <a:rPr lang="en-US" sz="1800" dirty="0">
                <a:solidFill>
                  <a:srgbClr val="DCE4F2"/>
                </a:solidFill>
                <a:latin typeface="Cambria" pitchFamily="34" charset="0"/>
                <a:ea typeface="Cambria" pitchFamily="34" charset="-122"/>
                <a:cs typeface="Cambria" pitchFamily="34" charset="-120"/>
              </a:rPr>
              <a:t>Port Harcourt and Ogun, we tracked 1,000 shipments to see exactly where these three things are breaking down — and how often.</a:t>
            </a:r>
            <a:endParaRPr lang="en-US" sz="1800" dirty="0"/>
          </a:p>
        </p:txBody>
      </p:sp>
      <p:sp>
        <p:nvSpPr>
          <p:cNvPr id="11" name="Shape 8"/>
          <p:cNvSpPr/>
          <p:nvPr/>
        </p:nvSpPr>
        <p:spPr>
          <a:xfrm>
            <a:off x="822960" y="4800600"/>
            <a:ext cx="10561320" cy="1234440"/>
          </a:xfrm>
          <a:prstGeom prst="roundRect">
            <a:avLst>
              <a:gd name="adj" fmla="val 5926"/>
            </a:avLst>
          </a:prstGeom>
          <a:solidFill>
            <a:srgbClr val="1B2A4A"/>
          </a:solidFill>
          <a:ln w="12700">
            <a:solidFill>
              <a:srgbClr val="E0954D"/>
            </a:solidFill>
            <a:prstDash val="solid"/>
          </a:ln>
        </p:spPr>
      </p:sp>
      <p:sp>
        <p:nvSpPr>
          <p:cNvPr id="12" name="Text 9"/>
          <p:cNvSpPr/>
          <p:nvPr/>
        </p:nvSpPr>
        <p:spPr>
          <a:xfrm>
            <a:off x="1097280" y="4983480"/>
            <a:ext cx="10058400" cy="320040"/>
          </a:xfrm>
          <a:prstGeom prst="rect">
            <a:avLst/>
          </a:prstGeom>
          <a:noFill/>
          <a:ln/>
        </p:spPr>
        <p:txBody>
          <a:bodyPr wrap="square" lIns="0" tIns="0" rIns="0" bIns="0" rtlCol="0" anchor="ctr"/>
          <a:lstStyle/>
          <a:p>
            <a:pPr marL="0" indent="0">
              <a:buNone/>
            </a:pPr>
            <a:r>
              <a:rPr lang="en-US" sz="1200" b="1" kern="0" spc="200" dirty="0">
                <a:solidFill>
                  <a:srgbClr val="E0954D"/>
                </a:solidFill>
                <a:latin typeface="Calibri" pitchFamily="34" charset="0"/>
                <a:ea typeface="Calibri" pitchFamily="34" charset="-122"/>
                <a:cs typeface="Calibri" pitchFamily="34" charset="-120"/>
              </a:rPr>
              <a:t>THE QUESTION THIS DASHBOARD ANSWERS</a:t>
            </a:r>
            <a:endParaRPr lang="en-US" sz="1200" dirty="0"/>
          </a:p>
        </p:txBody>
      </p:sp>
      <p:sp>
        <p:nvSpPr>
          <p:cNvPr id="13" name="Text 10"/>
          <p:cNvSpPr/>
          <p:nvPr/>
        </p:nvSpPr>
        <p:spPr>
          <a:xfrm>
            <a:off x="1097280" y="5303520"/>
            <a:ext cx="10058400" cy="640080"/>
          </a:xfrm>
          <a:prstGeom prst="rect">
            <a:avLst/>
          </a:prstGeom>
          <a:noFill/>
          <a:ln/>
        </p:spPr>
        <p:txBody>
          <a:bodyPr wrap="square" lIns="0" tIns="0" rIns="0" bIns="0" rtlCol="0" anchor="ctr"/>
          <a:lstStyle/>
          <a:p>
            <a:pPr marL="0" indent="0">
              <a:buNone/>
            </a:pPr>
            <a:r>
              <a:rPr lang="en-US" sz="1900" b="1" i="1" dirty="0">
                <a:solidFill>
                  <a:srgbClr val="FFFFFF"/>
                </a:solidFill>
                <a:latin typeface="Cambria" pitchFamily="34" charset="0"/>
                <a:ea typeface="Cambria" pitchFamily="34" charset="-122"/>
                <a:cs typeface="Cambria" pitchFamily="34" charset="-120"/>
              </a:rPr>
              <a:t>Which transport modes, drivers and routes are responsible for the highest number of delivery delays?</a:t>
            </a:r>
            <a:endParaRPr lang="en-US" sz="1900" dirty="0"/>
          </a:p>
        </p:txBody>
      </p:sp>
      <p:sp>
        <p:nvSpPr>
          <p:cNvPr id="14" name="Text 11"/>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4</a:t>
            </a:r>
            <a:endParaRPr lang="en-US" sz="1000" dirty="0"/>
          </a:p>
        </p:txBody>
      </p:sp>
      <p:sp>
        <p:nvSpPr>
          <p:cNvPr id="15" name="Text 12"/>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11480"/>
            <a:ext cx="640080" cy="640080"/>
          </a:xfrm>
          <a:prstGeom prst="ellipse">
            <a:avLst/>
          </a:prstGeom>
          <a:solidFill>
            <a:srgbClr val="1B2A4A"/>
          </a:solidFill>
          <a:ln/>
        </p:spPr>
      </p:sp>
      <p:pic>
        <p:nvPicPr>
          <p:cNvPr id="3" name="Image 0" descr="preencoded.png"/>
          <p:cNvPicPr>
            <a:picLocks noChangeAspect="1"/>
          </p:cNvPicPr>
          <p:nvPr/>
        </p:nvPicPr>
        <p:blipFill>
          <a:blip r:embed="rId3"/>
          <a:stretch>
            <a:fillRect/>
          </a:stretch>
        </p:blipFill>
        <p:spPr>
          <a:xfrm>
            <a:off x="658368" y="566928"/>
            <a:ext cx="329184" cy="329184"/>
          </a:xfrm>
          <a:prstGeom prst="rect">
            <a:avLst/>
          </a:prstGeom>
        </p:spPr>
      </p:pic>
      <p:sp>
        <p:nvSpPr>
          <p:cNvPr id="4" name="Text 1"/>
          <p:cNvSpPr/>
          <p:nvPr/>
        </p:nvSpPr>
        <p:spPr>
          <a:xfrm>
            <a:off x="1280160" y="384048"/>
            <a:ext cx="3657600" cy="27432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DASHBOARD 2</a:t>
            </a:r>
            <a:endParaRPr lang="en-US" sz="1300" dirty="0"/>
          </a:p>
        </p:txBody>
      </p:sp>
      <p:sp>
        <p:nvSpPr>
          <p:cNvPr id="5" name="Text 2"/>
          <p:cNvSpPr/>
          <p:nvPr/>
        </p:nvSpPr>
        <p:spPr>
          <a:xfrm>
            <a:off x="1280160" y="621792"/>
            <a:ext cx="8229600" cy="50292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Operations &amp; Logistics Analysis</a:t>
            </a:r>
            <a:endParaRPr lang="en-US" sz="2800" dirty="0"/>
          </a:p>
        </p:txBody>
      </p:sp>
      <p:sp>
        <p:nvSpPr>
          <p:cNvPr id="6" name="Text 3"/>
          <p:cNvSpPr/>
          <p:nvPr/>
        </p:nvSpPr>
        <p:spPr>
          <a:xfrm>
            <a:off x="1280160" y="1115568"/>
            <a:ext cx="10058400" cy="320040"/>
          </a:xfrm>
          <a:prstGeom prst="rect">
            <a:avLst/>
          </a:prstGeom>
          <a:noFill/>
          <a:ln/>
        </p:spPr>
        <p:txBody>
          <a:bodyPr wrap="square" lIns="0" tIns="0" rIns="0" bIns="0" rtlCol="0" anchor="ctr"/>
          <a:lstStyle/>
          <a:p>
            <a:pPr marL="0" indent="0">
              <a:buNone/>
            </a:pPr>
            <a:r>
              <a:rPr lang="en-US" sz="1300" i="1" dirty="0">
                <a:solidFill>
                  <a:srgbClr val="5B6B82"/>
                </a:solidFill>
                <a:latin typeface="Calibri" pitchFamily="34" charset="0"/>
                <a:ea typeface="Calibri" pitchFamily="34" charset="-122"/>
                <a:cs typeface="Calibri" pitchFamily="34" charset="-120"/>
              </a:rPr>
              <a:t>Which transport modes, drivers and routes are driving the most delays?</a:t>
            </a:r>
            <a:endParaRPr lang="en-US" sz="1300" dirty="0"/>
          </a:p>
        </p:txBody>
      </p:sp>
      <p:sp>
        <p:nvSpPr>
          <p:cNvPr id="7" name="Text 4"/>
          <p:cNvSpPr/>
          <p:nvPr/>
        </p:nvSpPr>
        <p:spPr>
          <a:xfrm>
            <a:off x="502920" y="1691640"/>
            <a:ext cx="457200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DELAYS BY TRANSPORT MODE</a:t>
            </a:r>
            <a:endParaRPr lang="en-US" sz="1300" dirty="0"/>
          </a:p>
        </p:txBody>
      </p:sp>
      <p:graphicFrame>
        <p:nvGraphicFramePr>
          <p:cNvPr id="8" name="Chart 0"/>
          <p:cNvGraphicFramePr/>
          <p:nvPr/>
        </p:nvGraphicFramePr>
        <p:xfrm>
          <a:off x="411480" y="2011680"/>
          <a:ext cx="493776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502920" y="4434840"/>
            <a:ext cx="457200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TOP DRIVER DELAYS</a:t>
            </a:r>
            <a:endParaRPr lang="en-US" sz="1300" dirty="0"/>
          </a:p>
        </p:txBody>
      </p:sp>
      <p:graphicFrame>
        <p:nvGraphicFramePr>
          <p:cNvPr id="10" name="Chart 1"/>
          <p:cNvGraphicFramePr/>
          <p:nvPr>
            <p:extLst>
              <p:ext uri="{D42A27DB-BD31-4B8C-83A1-F6EECF244321}">
                <p14:modId xmlns:p14="http://schemas.microsoft.com/office/powerpoint/2010/main" val="2870722646"/>
              </p:ext>
            </p:extLst>
          </p:nvPr>
        </p:nvGraphicFramePr>
        <p:xfrm>
          <a:off x="411480" y="4754880"/>
          <a:ext cx="4937760" cy="1691640"/>
        </p:xfrm>
        <a:graphic>
          <a:graphicData uri="http://schemas.openxmlformats.org/drawingml/2006/chart">
            <c:chart xmlns:c="http://schemas.openxmlformats.org/drawingml/2006/chart" xmlns:r="http://schemas.openxmlformats.org/officeDocument/2006/relationships" r:id="rId5"/>
          </a:graphicData>
        </a:graphic>
      </p:graphicFrame>
      <p:sp>
        <p:nvSpPr>
          <p:cNvPr id="11" name="Shape 6"/>
          <p:cNvSpPr/>
          <p:nvPr/>
        </p:nvSpPr>
        <p:spPr>
          <a:xfrm>
            <a:off x="5623560" y="1691640"/>
            <a:ext cx="1508760" cy="914400"/>
          </a:xfrm>
          <a:prstGeom prst="roundRect">
            <a:avLst>
              <a:gd name="adj" fmla="val 6000"/>
            </a:avLst>
          </a:prstGeom>
          <a:solidFill>
            <a:srgbClr val="F4F7FB"/>
          </a:solidFill>
          <a:ln/>
        </p:spPr>
      </p:sp>
      <p:sp>
        <p:nvSpPr>
          <p:cNvPr id="12" name="Text 7"/>
          <p:cNvSpPr/>
          <p:nvPr/>
        </p:nvSpPr>
        <p:spPr>
          <a:xfrm>
            <a:off x="5623560" y="1737360"/>
            <a:ext cx="1508760" cy="457200"/>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1,000</a:t>
            </a:r>
            <a:endParaRPr lang="en-US" sz="2200" dirty="0"/>
          </a:p>
        </p:txBody>
      </p:sp>
      <p:sp>
        <p:nvSpPr>
          <p:cNvPr id="13" name="Text 8"/>
          <p:cNvSpPr/>
          <p:nvPr/>
        </p:nvSpPr>
        <p:spPr>
          <a:xfrm>
            <a:off x="5669280" y="2212848"/>
            <a:ext cx="1417320" cy="384048"/>
          </a:xfrm>
          <a:prstGeom prst="rect">
            <a:avLst/>
          </a:prstGeom>
          <a:noFill/>
          <a:ln/>
        </p:spPr>
        <p:txBody>
          <a:bodyPr wrap="square" lIns="0" tIns="0" rIns="0" bIns="0" rtlCol="0" anchor="ctr"/>
          <a:lstStyle/>
          <a:p>
            <a:pPr marL="0" indent="0" algn="ctr">
              <a:lnSpc>
                <a:spcPct val="95000"/>
              </a:lnSpc>
              <a:buNone/>
            </a:pPr>
            <a:r>
              <a:rPr lang="en-US" sz="950" dirty="0">
                <a:solidFill>
                  <a:srgbClr val="5B6B82"/>
                </a:solidFill>
                <a:latin typeface="Calibri" pitchFamily="34" charset="0"/>
                <a:ea typeface="Calibri" pitchFamily="34" charset="-122"/>
                <a:cs typeface="Calibri" pitchFamily="34" charset="-120"/>
              </a:rPr>
              <a:t>Total Shipments</a:t>
            </a:r>
            <a:endParaRPr lang="en-US" sz="950" dirty="0"/>
          </a:p>
        </p:txBody>
      </p:sp>
      <p:sp>
        <p:nvSpPr>
          <p:cNvPr id="14" name="Shape 9"/>
          <p:cNvSpPr/>
          <p:nvPr/>
        </p:nvSpPr>
        <p:spPr>
          <a:xfrm>
            <a:off x="7223760" y="1691640"/>
            <a:ext cx="1508760" cy="914400"/>
          </a:xfrm>
          <a:prstGeom prst="roundRect">
            <a:avLst>
              <a:gd name="adj" fmla="val 6000"/>
            </a:avLst>
          </a:prstGeom>
          <a:solidFill>
            <a:srgbClr val="F4F7FB"/>
          </a:solidFill>
          <a:ln/>
        </p:spPr>
      </p:sp>
      <p:sp>
        <p:nvSpPr>
          <p:cNvPr id="15" name="Text 10"/>
          <p:cNvSpPr/>
          <p:nvPr/>
        </p:nvSpPr>
        <p:spPr>
          <a:xfrm>
            <a:off x="7223760" y="1737360"/>
            <a:ext cx="1508760" cy="457200"/>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331</a:t>
            </a:r>
            <a:endParaRPr lang="en-US" sz="2200" dirty="0"/>
          </a:p>
        </p:txBody>
      </p:sp>
      <p:sp>
        <p:nvSpPr>
          <p:cNvPr id="16" name="Text 11"/>
          <p:cNvSpPr/>
          <p:nvPr/>
        </p:nvSpPr>
        <p:spPr>
          <a:xfrm>
            <a:off x="7269480" y="2212848"/>
            <a:ext cx="1417320" cy="384048"/>
          </a:xfrm>
          <a:prstGeom prst="rect">
            <a:avLst/>
          </a:prstGeom>
          <a:noFill/>
          <a:ln/>
        </p:spPr>
        <p:txBody>
          <a:bodyPr wrap="square" lIns="0" tIns="0" rIns="0" bIns="0" rtlCol="0" anchor="ctr"/>
          <a:lstStyle/>
          <a:p>
            <a:pPr marL="0" indent="0" algn="ctr">
              <a:lnSpc>
                <a:spcPct val="95000"/>
              </a:lnSpc>
              <a:buNone/>
            </a:pPr>
            <a:r>
              <a:rPr lang="en-US" sz="950" dirty="0">
                <a:solidFill>
                  <a:srgbClr val="5B6B82"/>
                </a:solidFill>
                <a:latin typeface="Calibri" pitchFamily="34" charset="0"/>
                <a:ea typeface="Calibri" pitchFamily="34" charset="-122"/>
                <a:cs typeface="Calibri" pitchFamily="34" charset="-120"/>
              </a:rPr>
              <a:t>Total Delays</a:t>
            </a:r>
            <a:endParaRPr lang="en-US" sz="950" dirty="0"/>
          </a:p>
        </p:txBody>
      </p:sp>
      <p:sp>
        <p:nvSpPr>
          <p:cNvPr id="17" name="Shape 12"/>
          <p:cNvSpPr/>
          <p:nvPr/>
        </p:nvSpPr>
        <p:spPr>
          <a:xfrm>
            <a:off x="8823960" y="1691640"/>
            <a:ext cx="1508760" cy="914400"/>
          </a:xfrm>
          <a:prstGeom prst="roundRect">
            <a:avLst>
              <a:gd name="adj" fmla="val 6000"/>
            </a:avLst>
          </a:prstGeom>
          <a:solidFill>
            <a:srgbClr val="F4F7FB"/>
          </a:solidFill>
          <a:ln/>
        </p:spPr>
      </p:sp>
      <p:sp>
        <p:nvSpPr>
          <p:cNvPr id="18" name="Text 13"/>
          <p:cNvSpPr/>
          <p:nvPr/>
        </p:nvSpPr>
        <p:spPr>
          <a:xfrm>
            <a:off x="8823960" y="1737360"/>
            <a:ext cx="1508760" cy="457200"/>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4.01</a:t>
            </a:r>
            <a:endParaRPr lang="en-US" sz="2200" dirty="0"/>
          </a:p>
        </p:txBody>
      </p:sp>
      <p:sp>
        <p:nvSpPr>
          <p:cNvPr id="19" name="Text 14"/>
          <p:cNvSpPr/>
          <p:nvPr/>
        </p:nvSpPr>
        <p:spPr>
          <a:xfrm>
            <a:off x="8869680" y="2212848"/>
            <a:ext cx="1417320" cy="384048"/>
          </a:xfrm>
          <a:prstGeom prst="rect">
            <a:avLst/>
          </a:prstGeom>
          <a:noFill/>
          <a:ln/>
        </p:spPr>
        <p:txBody>
          <a:bodyPr wrap="square" lIns="0" tIns="0" rIns="0" bIns="0" rtlCol="0" anchor="ctr"/>
          <a:lstStyle/>
          <a:p>
            <a:pPr marL="0" indent="0" algn="ctr">
              <a:lnSpc>
                <a:spcPct val="95000"/>
              </a:lnSpc>
              <a:buNone/>
            </a:pPr>
            <a:r>
              <a:rPr lang="en-US" sz="950" dirty="0">
                <a:solidFill>
                  <a:srgbClr val="5B6B82"/>
                </a:solidFill>
                <a:latin typeface="Calibri" pitchFamily="34" charset="0"/>
                <a:ea typeface="Calibri" pitchFamily="34" charset="-122"/>
                <a:cs typeface="Calibri" pitchFamily="34" charset="-120"/>
              </a:rPr>
              <a:t>Avg. Delivery Days</a:t>
            </a:r>
            <a:endParaRPr lang="en-US" sz="950" dirty="0"/>
          </a:p>
        </p:txBody>
      </p:sp>
      <p:sp>
        <p:nvSpPr>
          <p:cNvPr id="20" name="Shape 15"/>
          <p:cNvSpPr/>
          <p:nvPr/>
        </p:nvSpPr>
        <p:spPr>
          <a:xfrm>
            <a:off x="10424160" y="1691640"/>
            <a:ext cx="1508760" cy="914400"/>
          </a:xfrm>
          <a:prstGeom prst="roundRect">
            <a:avLst>
              <a:gd name="adj" fmla="val 6000"/>
            </a:avLst>
          </a:prstGeom>
          <a:solidFill>
            <a:srgbClr val="F4F7FB"/>
          </a:solidFill>
          <a:ln/>
        </p:spPr>
      </p:sp>
      <p:sp>
        <p:nvSpPr>
          <p:cNvPr id="21" name="Text 16"/>
          <p:cNvSpPr/>
          <p:nvPr/>
        </p:nvSpPr>
        <p:spPr>
          <a:xfrm>
            <a:off x="10424160" y="1737360"/>
            <a:ext cx="1508760" cy="457200"/>
          </a:xfrm>
          <a:prstGeom prst="rect">
            <a:avLst/>
          </a:prstGeom>
          <a:noFill/>
          <a:ln/>
        </p:spPr>
        <p:txBody>
          <a:bodyPr wrap="square" lIns="0" tIns="0" rIns="0" bIns="0"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130</a:t>
            </a:r>
            <a:endParaRPr lang="en-US" sz="2200" dirty="0"/>
          </a:p>
        </p:txBody>
      </p:sp>
      <p:sp>
        <p:nvSpPr>
          <p:cNvPr id="22" name="Text 17"/>
          <p:cNvSpPr/>
          <p:nvPr/>
        </p:nvSpPr>
        <p:spPr>
          <a:xfrm>
            <a:off x="10469880" y="2212848"/>
            <a:ext cx="1417320" cy="384048"/>
          </a:xfrm>
          <a:prstGeom prst="rect">
            <a:avLst/>
          </a:prstGeom>
          <a:noFill/>
          <a:ln/>
        </p:spPr>
        <p:txBody>
          <a:bodyPr wrap="square" lIns="0" tIns="0" rIns="0" bIns="0" rtlCol="0" anchor="ctr"/>
          <a:lstStyle/>
          <a:p>
            <a:pPr marL="0" indent="0" algn="ctr">
              <a:lnSpc>
                <a:spcPct val="95000"/>
              </a:lnSpc>
              <a:buNone/>
            </a:pPr>
            <a:r>
              <a:rPr lang="en-US" sz="950" dirty="0">
                <a:solidFill>
                  <a:srgbClr val="5B6B82"/>
                </a:solidFill>
                <a:latin typeface="Calibri" pitchFamily="34" charset="0"/>
                <a:ea typeface="Calibri" pitchFamily="34" charset="-122"/>
                <a:cs typeface="Calibri" pitchFamily="34" charset="-120"/>
              </a:rPr>
              <a:t>Shipments to Abuja</a:t>
            </a:r>
            <a:endParaRPr lang="en-US" sz="950" dirty="0"/>
          </a:p>
          <a:p>
            <a:pPr marL="0" indent="0" algn="ctr">
              <a:lnSpc>
                <a:spcPct val="95000"/>
              </a:lnSpc>
              <a:buNone/>
            </a:pPr>
            <a:r>
              <a:rPr lang="en-US" sz="950" dirty="0">
                <a:solidFill>
                  <a:srgbClr val="5B6B82"/>
                </a:solidFill>
                <a:latin typeface="Calibri" pitchFamily="34" charset="0"/>
                <a:ea typeface="Calibri" pitchFamily="34" charset="-122"/>
                <a:cs typeface="Calibri" pitchFamily="34" charset="-120"/>
              </a:rPr>
              <a:t>(highest)</a:t>
            </a:r>
            <a:endParaRPr lang="en-US" sz="950" dirty="0"/>
          </a:p>
        </p:txBody>
      </p:sp>
      <p:sp>
        <p:nvSpPr>
          <p:cNvPr id="23" name="Text 18"/>
          <p:cNvSpPr/>
          <p:nvPr/>
        </p:nvSpPr>
        <p:spPr>
          <a:xfrm>
            <a:off x="5623560" y="2788920"/>
            <a:ext cx="603504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KEY FINDINGS</a:t>
            </a:r>
            <a:endParaRPr lang="en-US" sz="1300" dirty="0"/>
          </a:p>
        </p:txBody>
      </p:sp>
      <p:sp>
        <p:nvSpPr>
          <p:cNvPr id="24" name="Text 19"/>
          <p:cNvSpPr/>
          <p:nvPr/>
        </p:nvSpPr>
        <p:spPr>
          <a:xfrm>
            <a:off x="5623560" y="3108960"/>
            <a:ext cx="6035040" cy="132588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300" dirty="0">
                <a:solidFill>
                  <a:srgbClr val="33415C"/>
                </a:solidFill>
                <a:latin typeface="Calibri" pitchFamily="34" charset="0"/>
                <a:ea typeface="Calibri" pitchFamily="34" charset="-122"/>
                <a:cs typeface="Calibri" pitchFamily="34" charset="-120"/>
              </a:rPr>
              <a:t>Truck has the highest delays (119), followed by Air (107) and Sea (105) — all three modes underperform.</a:t>
            </a:r>
            <a:endParaRPr lang="en-US" sz="1300" dirty="0"/>
          </a:p>
          <a:p>
            <a:pPr marL="342900" indent="-342900">
              <a:lnSpc>
                <a:spcPct val="115000"/>
              </a:lnSpc>
              <a:spcAft>
                <a:spcPts val="600"/>
              </a:spcAft>
              <a:buSzPct val="100000"/>
              <a:buChar char="•"/>
            </a:pPr>
            <a:r>
              <a:rPr lang="en-US" sz="1300" dirty="0">
                <a:solidFill>
                  <a:srgbClr val="33415C"/>
                </a:solidFill>
                <a:latin typeface="Calibri" pitchFamily="34" charset="0"/>
                <a:ea typeface="Calibri" pitchFamily="34" charset="-122"/>
                <a:cs typeface="Calibri" pitchFamily="34" charset="-120"/>
              </a:rPr>
              <a:t>Driver Kemi recorded the most delays (55) of all 7 drivers — the highest in the team.</a:t>
            </a:r>
            <a:endParaRPr lang="en-US" sz="1300" dirty="0"/>
          </a:p>
          <a:p>
            <a:pPr marL="342900" indent="-342900">
              <a:lnSpc>
                <a:spcPct val="115000"/>
              </a:lnSpc>
              <a:spcAft>
                <a:spcPts val="600"/>
              </a:spcAft>
              <a:buSzPct val="100000"/>
              <a:buChar char="•"/>
            </a:pPr>
            <a:r>
              <a:rPr lang="en-US" sz="1300" dirty="0">
                <a:solidFill>
                  <a:srgbClr val="33415C"/>
                </a:solidFill>
                <a:latin typeface="Calibri" pitchFamily="34" charset="0"/>
                <a:ea typeface="Calibri" pitchFamily="34" charset="-122"/>
                <a:cs typeface="Calibri" pitchFamily="34" charset="-120"/>
              </a:rPr>
              <a:t>Abuja receives the most shipments (130) and is currently under-resourced.</a:t>
            </a:r>
            <a:endParaRPr lang="en-US" sz="1300" dirty="0"/>
          </a:p>
        </p:txBody>
      </p:sp>
      <p:sp>
        <p:nvSpPr>
          <p:cNvPr id="25" name="Text 20"/>
          <p:cNvSpPr/>
          <p:nvPr/>
        </p:nvSpPr>
        <p:spPr>
          <a:xfrm>
            <a:off x="5623560" y="4526280"/>
            <a:ext cx="6035040" cy="292608"/>
          </a:xfrm>
          <a:prstGeom prst="rect">
            <a:avLst/>
          </a:prstGeom>
          <a:noFill/>
          <a:ln/>
        </p:spPr>
        <p:txBody>
          <a:bodyPr wrap="square" lIns="0" tIns="0" rIns="0" bIns="0" rtlCol="0" anchor="ctr"/>
          <a:lstStyle/>
          <a:p>
            <a:pPr marL="0" indent="0">
              <a:buNone/>
            </a:pPr>
            <a:r>
              <a:rPr lang="en-US" sz="1300" b="1" kern="0" spc="150" dirty="0">
                <a:solidFill>
                  <a:srgbClr val="3E8E5A"/>
                </a:solidFill>
                <a:latin typeface="Calibri" pitchFamily="34" charset="0"/>
                <a:ea typeface="Calibri" pitchFamily="34" charset="-122"/>
                <a:cs typeface="Calibri" pitchFamily="34" charset="-120"/>
              </a:rPr>
              <a:t>RECOMMENDATIONS</a:t>
            </a:r>
            <a:endParaRPr lang="en-US" sz="1300" dirty="0"/>
          </a:p>
        </p:txBody>
      </p:sp>
      <p:sp>
        <p:nvSpPr>
          <p:cNvPr id="26" name="Text 21"/>
          <p:cNvSpPr/>
          <p:nvPr/>
        </p:nvSpPr>
        <p:spPr>
          <a:xfrm>
            <a:off x="5623560" y="4846320"/>
            <a:ext cx="6035040" cy="137160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300" dirty="0">
                <a:solidFill>
                  <a:srgbClr val="33415C"/>
                </a:solidFill>
                <a:latin typeface="Calibri" pitchFamily="34" charset="0"/>
                <a:ea typeface="Calibri" pitchFamily="34" charset="-122"/>
                <a:cs typeface="Calibri" pitchFamily="34" charset="-120"/>
              </a:rPr>
              <a:t>Conduct an immediate performance review for Driver Kemi.</a:t>
            </a:r>
            <a:endParaRPr lang="en-US" sz="1300" dirty="0"/>
          </a:p>
          <a:p>
            <a:pPr marL="342900" indent="-342900">
              <a:lnSpc>
                <a:spcPct val="115000"/>
              </a:lnSpc>
              <a:spcAft>
                <a:spcPts val="600"/>
              </a:spcAft>
              <a:buSzPct val="100000"/>
              <a:buChar char="•"/>
            </a:pPr>
            <a:r>
              <a:rPr lang="en-US" sz="1300" dirty="0">
                <a:solidFill>
                  <a:srgbClr val="33415C"/>
                </a:solidFill>
                <a:latin typeface="Calibri" pitchFamily="34" charset="0"/>
                <a:ea typeface="Calibri" pitchFamily="34" charset="-122"/>
                <a:cs typeface="Calibri" pitchFamily="34" charset="-120"/>
              </a:rPr>
              <a:t>Allocate more drivers and vehicles to Abuja routes.</a:t>
            </a:r>
            <a:endParaRPr lang="en-US" sz="1300" dirty="0"/>
          </a:p>
          <a:p>
            <a:pPr marL="342900" indent="-342900">
              <a:lnSpc>
                <a:spcPct val="115000"/>
              </a:lnSpc>
              <a:spcAft>
                <a:spcPts val="600"/>
              </a:spcAft>
              <a:buSzPct val="100000"/>
              <a:buChar char="•"/>
            </a:pPr>
            <a:r>
              <a:rPr lang="en-US" sz="1300" dirty="0">
                <a:solidFill>
                  <a:srgbClr val="33415C"/>
                </a:solidFill>
                <a:latin typeface="Calibri" pitchFamily="34" charset="0"/>
                <a:ea typeface="Calibri" pitchFamily="34" charset="-122"/>
                <a:cs typeface="Calibri" pitchFamily="34" charset="-120"/>
              </a:rPr>
              <a:t>Review and optimise the slowest routes; set a max. 10% delay-rate target per driver.</a:t>
            </a:r>
            <a:endParaRPr lang="en-US" sz="1300" dirty="0"/>
          </a:p>
        </p:txBody>
      </p:sp>
      <p:sp>
        <p:nvSpPr>
          <p:cNvPr id="27" name="Text 22"/>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5</a:t>
            </a:r>
            <a:endParaRPr lang="en-US" sz="1000" dirty="0"/>
          </a:p>
        </p:txBody>
      </p:sp>
      <p:sp>
        <p:nvSpPr>
          <p:cNvPr id="28" name="Text 23"/>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
        <p:nvSpPr>
          <p:cNvPr id="29" name="TextBox 28">
            <a:extLst>
              <a:ext uri="{FF2B5EF4-FFF2-40B4-BE49-F238E27FC236}">
                <a16:creationId xmlns:a16="http://schemas.microsoft.com/office/drawing/2014/main" id="{D08061A3-EB5D-408E-9442-6E8B6F4AB679}"/>
              </a:ext>
            </a:extLst>
          </p:cNvPr>
          <p:cNvSpPr txBox="1"/>
          <p:nvPr/>
        </p:nvSpPr>
        <p:spPr>
          <a:xfrm>
            <a:off x="548737" y="5866209"/>
            <a:ext cx="731423" cy="246221"/>
          </a:xfrm>
          <a:prstGeom prst="rect">
            <a:avLst/>
          </a:prstGeom>
          <a:noFill/>
        </p:spPr>
        <p:txBody>
          <a:bodyPr wrap="square" rtlCol="0">
            <a:spAutoFit/>
          </a:bodyPr>
          <a:lstStyle/>
          <a:p>
            <a:r>
              <a:rPr lang="en-GB" sz="1000" dirty="0"/>
              <a:t>KEMI</a:t>
            </a:r>
            <a:endParaRPr lang="en-US" sz="1000" dirty="0"/>
          </a:p>
        </p:txBody>
      </p:sp>
      <p:sp>
        <p:nvSpPr>
          <p:cNvPr id="30" name="TextBox 29">
            <a:extLst>
              <a:ext uri="{FF2B5EF4-FFF2-40B4-BE49-F238E27FC236}">
                <a16:creationId xmlns:a16="http://schemas.microsoft.com/office/drawing/2014/main" id="{F7FAE1B6-451A-4BDB-B933-325B5D7C4971}"/>
              </a:ext>
            </a:extLst>
          </p:cNvPr>
          <p:cNvSpPr txBox="1"/>
          <p:nvPr/>
        </p:nvSpPr>
        <p:spPr>
          <a:xfrm>
            <a:off x="487682" y="5537762"/>
            <a:ext cx="655318" cy="246221"/>
          </a:xfrm>
          <a:prstGeom prst="rect">
            <a:avLst/>
          </a:prstGeom>
          <a:noFill/>
        </p:spPr>
        <p:txBody>
          <a:bodyPr wrap="square" rtlCol="0">
            <a:spAutoFit/>
          </a:bodyPr>
          <a:lstStyle/>
          <a:p>
            <a:r>
              <a:rPr lang="en-GB" sz="1000" dirty="0"/>
              <a:t>AHMED</a:t>
            </a:r>
            <a:endParaRPr lang="en-US" sz="1000" dirty="0"/>
          </a:p>
        </p:txBody>
      </p:sp>
      <p:sp>
        <p:nvSpPr>
          <p:cNvPr id="31" name="TextBox 30">
            <a:extLst>
              <a:ext uri="{FF2B5EF4-FFF2-40B4-BE49-F238E27FC236}">
                <a16:creationId xmlns:a16="http://schemas.microsoft.com/office/drawing/2014/main" id="{1DD4BE33-8746-4888-A683-16F4C75E8251}"/>
              </a:ext>
            </a:extLst>
          </p:cNvPr>
          <p:cNvSpPr txBox="1"/>
          <p:nvPr/>
        </p:nvSpPr>
        <p:spPr>
          <a:xfrm>
            <a:off x="572149" y="5228151"/>
            <a:ext cx="486383" cy="246221"/>
          </a:xfrm>
          <a:prstGeom prst="rect">
            <a:avLst/>
          </a:prstGeom>
          <a:noFill/>
        </p:spPr>
        <p:txBody>
          <a:bodyPr wrap="square" rtlCol="0">
            <a:spAutoFit/>
          </a:bodyPr>
          <a:lstStyle/>
          <a:p>
            <a:r>
              <a:rPr lang="en-GB" sz="1000" dirty="0"/>
              <a:t>SOLA</a:t>
            </a:r>
            <a:endParaRPr lang="en-US" sz="1000" dirty="0"/>
          </a:p>
        </p:txBody>
      </p:sp>
      <p:sp>
        <p:nvSpPr>
          <p:cNvPr id="33" name="TextBox 32">
            <a:extLst>
              <a:ext uri="{FF2B5EF4-FFF2-40B4-BE49-F238E27FC236}">
                <a16:creationId xmlns:a16="http://schemas.microsoft.com/office/drawing/2014/main" id="{94F23ECD-8326-4AED-A724-B9EBA26E27FF}"/>
              </a:ext>
            </a:extLst>
          </p:cNvPr>
          <p:cNvSpPr txBox="1"/>
          <p:nvPr/>
        </p:nvSpPr>
        <p:spPr>
          <a:xfrm>
            <a:off x="507783" y="4927020"/>
            <a:ext cx="655318" cy="246221"/>
          </a:xfrm>
          <a:prstGeom prst="rect">
            <a:avLst/>
          </a:prstGeom>
          <a:noFill/>
        </p:spPr>
        <p:txBody>
          <a:bodyPr wrap="square" rtlCol="0">
            <a:spAutoFit/>
          </a:bodyPr>
          <a:lstStyle/>
          <a:p>
            <a:r>
              <a:rPr lang="en-GB" sz="1000" dirty="0"/>
              <a:t>TUNDE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8778240" y="-2560320"/>
            <a:ext cx="5486400" cy="5486400"/>
          </a:xfrm>
          <a:prstGeom prst="ellipse">
            <a:avLst/>
          </a:prstGeom>
          <a:solidFill>
            <a:srgbClr val="1B2A4A">
              <a:alpha val="60000"/>
            </a:srgbClr>
          </a:solidFill>
          <a:ln/>
        </p:spPr>
      </p:sp>
      <p:sp>
        <p:nvSpPr>
          <p:cNvPr id="3" name="Shape 1"/>
          <p:cNvSpPr/>
          <p:nvPr/>
        </p:nvSpPr>
        <p:spPr>
          <a:xfrm>
            <a:off x="-2286000" y="4114800"/>
            <a:ext cx="5029200" cy="5029200"/>
          </a:xfrm>
          <a:prstGeom prst="ellipse">
            <a:avLst/>
          </a:prstGeom>
          <a:solidFill>
            <a:srgbClr val="3D5A80">
              <a:alpha val="35000"/>
            </a:srgbClr>
          </a:solidFill>
          <a:ln/>
        </p:spPr>
      </p:sp>
      <p:sp>
        <p:nvSpPr>
          <p:cNvPr id="4" name="Text 2"/>
          <p:cNvSpPr/>
          <p:nvPr/>
        </p:nvSpPr>
        <p:spPr>
          <a:xfrm>
            <a:off x="8778240" y="320040"/>
            <a:ext cx="2926080" cy="2926080"/>
          </a:xfrm>
          <a:prstGeom prst="rect">
            <a:avLst/>
          </a:prstGeom>
          <a:noFill/>
          <a:ln/>
        </p:spPr>
        <p:txBody>
          <a:bodyPr wrap="square" lIns="0" tIns="0" rIns="0" bIns="0" rtlCol="0" anchor="ctr"/>
          <a:lstStyle/>
          <a:p>
            <a:pPr marL="0" indent="0" algn="ctr">
              <a:buNone/>
            </a:pPr>
            <a:r>
              <a:rPr lang="en-US" sz="18000" b="1" dirty="0">
                <a:solidFill>
                  <a:srgbClr val="1B2A4A"/>
                </a:solidFill>
                <a:latin typeface="Cambria" pitchFamily="34" charset="0"/>
                <a:ea typeface="Cambria" pitchFamily="34" charset="-122"/>
                <a:cs typeface="Cambria" pitchFamily="34" charset="-120"/>
              </a:rPr>
              <a:t>2</a:t>
            </a:r>
            <a:endParaRPr lang="en-US" sz="18000" dirty="0"/>
          </a:p>
        </p:txBody>
      </p:sp>
      <p:sp>
        <p:nvSpPr>
          <p:cNvPr id="5" name="Shape 3"/>
          <p:cNvSpPr/>
          <p:nvPr/>
        </p:nvSpPr>
        <p:spPr>
          <a:xfrm>
            <a:off x="822960" y="685800"/>
            <a:ext cx="822960" cy="822960"/>
          </a:xfrm>
          <a:prstGeom prst="ellipse">
            <a:avLst/>
          </a:prstGeom>
          <a:solidFill>
            <a:srgbClr val="E0954D"/>
          </a:solidFill>
          <a:ln/>
        </p:spPr>
      </p:sp>
      <p:pic>
        <p:nvPicPr>
          <p:cNvPr id="6" name="Image 0" descr="preencoded.png"/>
          <p:cNvPicPr>
            <a:picLocks noChangeAspect="1"/>
          </p:cNvPicPr>
          <p:nvPr/>
        </p:nvPicPr>
        <p:blipFill>
          <a:blip r:embed="rId3"/>
          <a:stretch>
            <a:fillRect/>
          </a:stretch>
        </p:blipFill>
        <p:spPr>
          <a:xfrm>
            <a:off x="1033272" y="896112"/>
            <a:ext cx="402336" cy="402336"/>
          </a:xfrm>
          <a:prstGeom prst="rect">
            <a:avLst/>
          </a:prstGeom>
        </p:spPr>
      </p:pic>
      <p:sp>
        <p:nvSpPr>
          <p:cNvPr id="7" name="Text 4"/>
          <p:cNvSpPr/>
          <p:nvPr/>
        </p:nvSpPr>
        <p:spPr>
          <a:xfrm>
            <a:off x="1783080" y="713232"/>
            <a:ext cx="5486400" cy="320040"/>
          </a:xfrm>
          <a:prstGeom prst="rect">
            <a:avLst/>
          </a:prstGeom>
          <a:noFill/>
          <a:ln/>
        </p:spPr>
        <p:txBody>
          <a:bodyPr wrap="square" lIns="0" tIns="0" rIns="0" bIns="0" rtlCol="0" anchor="ctr"/>
          <a:lstStyle/>
          <a:p>
            <a:pPr marL="0" indent="0">
              <a:buNone/>
            </a:pPr>
            <a:r>
              <a:rPr lang="en-US" sz="1400" b="1" kern="0" spc="300" dirty="0">
                <a:solidFill>
                  <a:srgbClr val="E0954D"/>
                </a:solidFill>
                <a:latin typeface="Calibri" pitchFamily="34" charset="0"/>
                <a:ea typeface="Calibri" pitchFamily="34" charset="-122"/>
                <a:cs typeface="Calibri" pitchFamily="34" charset="-120"/>
              </a:rPr>
              <a:t>DASHBOARD 3</a:t>
            </a:r>
          </a:p>
        </p:txBody>
      </p:sp>
      <p:sp>
        <p:nvSpPr>
          <p:cNvPr id="8" name="Text 5"/>
          <p:cNvSpPr/>
          <p:nvPr/>
        </p:nvSpPr>
        <p:spPr>
          <a:xfrm>
            <a:off x="1783080" y="1024128"/>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Cost &amp; Financial Analysis</a:t>
            </a:r>
            <a:endParaRPr lang="en-US" sz="3200" dirty="0"/>
          </a:p>
        </p:txBody>
      </p:sp>
      <p:sp>
        <p:nvSpPr>
          <p:cNvPr id="9" name="Text 6"/>
          <p:cNvSpPr/>
          <p:nvPr/>
        </p:nvSpPr>
        <p:spPr>
          <a:xfrm>
            <a:off x="822960" y="2331720"/>
            <a:ext cx="5486400" cy="320040"/>
          </a:xfrm>
          <a:prstGeom prst="rect">
            <a:avLst/>
          </a:prstGeom>
          <a:noFill/>
          <a:ln/>
        </p:spPr>
        <p:txBody>
          <a:bodyPr wrap="square" lIns="0" tIns="0" rIns="0" bIns="0" rtlCol="0" anchor="ctr"/>
          <a:lstStyle/>
          <a:p>
            <a:pPr marL="0" indent="0">
              <a:buNone/>
            </a:pPr>
            <a:r>
              <a:rPr lang="en-US" sz="1200" b="1" kern="0" spc="250" dirty="0">
                <a:solidFill>
                  <a:srgbClr val="7E93B8"/>
                </a:solidFill>
                <a:latin typeface="Calibri" pitchFamily="34" charset="0"/>
                <a:ea typeface="Calibri" pitchFamily="34" charset="-122"/>
                <a:cs typeface="Calibri" pitchFamily="34" charset="-120"/>
              </a:rPr>
              <a:t>THE STORY SO FAR</a:t>
            </a:r>
            <a:endParaRPr lang="en-US" sz="1200" dirty="0"/>
          </a:p>
        </p:txBody>
      </p:sp>
      <p:sp>
        <p:nvSpPr>
          <p:cNvPr id="10" name="Text 7"/>
          <p:cNvSpPr/>
          <p:nvPr/>
        </p:nvSpPr>
        <p:spPr>
          <a:xfrm>
            <a:off x="822960" y="2697480"/>
            <a:ext cx="8778240" cy="1828800"/>
          </a:xfrm>
          <a:prstGeom prst="rect">
            <a:avLst/>
          </a:prstGeom>
          <a:noFill/>
          <a:ln/>
        </p:spPr>
        <p:txBody>
          <a:bodyPr wrap="square" lIns="0" tIns="0" rIns="0" bIns="0" rtlCol="0" anchor="ctr"/>
          <a:lstStyle/>
          <a:p>
            <a:pPr marL="0" indent="0">
              <a:lnSpc>
                <a:spcPct val="135000"/>
              </a:lnSpc>
              <a:buNone/>
            </a:pPr>
            <a:r>
              <a:rPr lang="en-US" sz="1800" dirty="0">
                <a:solidFill>
                  <a:srgbClr val="DCE4F2"/>
                </a:solidFill>
                <a:latin typeface="Cambria" pitchFamily="34" charset="0"/>
                <a:ea typeface="Cambria" pitchFamily="34" charset="-122"/>
                <a:cs typeface="Cambria" pitchFamily="34" charset="-120"/>
              </a:rPr>
              <a:t>Behind every shipment is a cost — fuel, distance travelled, and the transport mode used all add up. Over the last two years, PrimeProcure has spent ₦132.9 million moving goods across the country. This dashboard pulls that spending apart, route by route and mode by mode, to see whether the money is being spent wisely or whether it is quietly leaking away through inefficiency.</a:t>
            </a:r>
            <a:endParaRPr lang="en-US" sz="1800" dirty="0"/>
          </a:p>
        </p:txBody>
      </p:sp>
      <p:sp>
        <p:nvSpPr>
          <p:cNvPr id="11" name="Shape 8"/>
          <p:cNvSpPr/>
          <p:nvPr/>
        </p:nvSpPr>
        <p:spPr>
          <a:xfrm>
            <a:off x="822960" y="4800600"/>
            <a:ext cx="10561320" cy="1234440"/>
          </a:xfrm>
          <a:prstGeom prst="roundRect">
            <a:avLst>
              <a:gd name="adj" fmla="val 5926"/>
            </a:avLst>
          </a:prstGeom>
          <a:solidFill>
            <a:srgbClr val="1B2A4A"/>
          </a:solidFill>
          <a:ln w="12700">
            <a:solidFill>
              <a:srgbClr val="E0954D"/>
            </a:solidFill>
            <a:prstDash val="solid"/>
          </a:ln>
        </p:spPr>
      </p:sp>
      <p:sp>
        <p:nvSpPr>
          <p:cNvPr id="12" name="Text 9"/>
          <p:cNvSpPr/>
          <p:nvPr/>
        </p:nvSpPr>
        <p:spPr>
          <a:xfrm>
            <a:off x="1097280" y="4983480"/>
            <a:ext cx="10058400" cy="320040"/>
          </a:xfrm>
          <a:prstGeom prst="rect">
            <a:avLst/>
          </a:prstGeom>
          <a:noFill/>
          <a:ln/>
        </p:spPr>
        <p:txBody>
          <a:bodyPr wrap="square" lIns="0" tIns="0" rIns="0" bIns="0" rtlCol="0" anchor="ctr"/>
          <a:lstStyle/>
          <a:p>
            <a:pPr marL="0" indent="0">
              <a:buNone/>
            </a:pPr>
            <a:r>
              <a:rPr lang="en-US" sz="1200" b="1" kern="0" spc="200" dirty="0">
                <a:solidFill>
                  <a:srgbClr val="E0954D"/>
                </a:solidFill>
                <a:latin typeface="Calibri" pitchFamily="34" charset="0"/>
                <a:ea typeface="Calibri" pitchFamily="34" charset="-122"/>
                <a:cs typeface="Calibri" pitchFamily="34" charset="-120"/>
              </a:rPr>
              <a:t>THE QUESTION THIS DASHBOARD ANSWERS</a:t>
            </a:r>
            <a:endParaRPr lang="en-US" sz="1200" dirty="0"/>
          </a:p>
        </p:txBody>
      </p:sp>
      <p:sp>
        <p:nvSpPr>
          <p:cNvPr id="13" name="Text 10"/>
          <p:cNvSpPr/>
          <p:nvPr/>
        </p:nvSpPr>
        <p:spPr>
          <a:xfrm>
            <a:off x="1097280" y="5303520"/>
            <a:ext cx="10058400" cy="640080"/>
          </a:xfrm>
          <a:prstGeom prst="rect">
            <a:avLst/>
          </a:prstGeom>
          <a:noFill/>
          <a:ln/>
        </p:spPr>
        <p:txBody>
          <a:bodyPr wrap="square" lIns="0" tIns="0" rIns="0" bIns="0" rtlCol="0" anchor="ctr"/>
          <a:lstStyle/>
          <a:p>
            <a:pPr marL="0" indent="0">
              <a:buNone/>
            </a:pPr>
            <a:r>
              <a:rPr lang="en-US" sz="1900" b="1" i="1" dirty="0">
                <a:solidFill>
                  <a:srgbClr val="FFFFFF"/>
                </a:solidFill>
                <a:latin typeface="Cambria" pitchFamily="34" charset="0"/>
                <a:ea typeface="Cambria" pitchFamily="34" charset="-122"/>
                <a:cs typeface="Cambria" pitchFamily="34" charset="-120"/>
              </a:rPr>
              <a:t>Where is our transportation budget going, and is the cost justified by the service we receive?</a:t>
            </a:r>
            <a:endParaRPr lang="en-US" sz="1900" dirty="0"/>
          </a:p>
        </p:txBody>
      </p:sp>
      <p:sp>
        <p:nvSpPr>
          <p:cNvPr id="14" name="Text 11"/>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6</a:t>
            </a:r>
            <a:endParaRPr lang="en-US" sz="1000" dirty="0"/>
          </a:p>
        </p:txBody>
      </p:sp>
      <p:sp>
        <p:nvSpPr>
          <p:cNvPr id="15" name="Text 12"/>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11480"/>
            <a:ext cx="640080" cy="640080"/>
          </a:xfrm>
          <a:prstGeom prst="ellipse">
            <a:avLst/>
          </a:prstGeom>
          <a:solidFill>
            <a:srgbClr val="1B2A4A"/>
          </a:solidFill>
          <a:ln/>
        </p:spPr>
      </p:sp>
      <p:pic>
        <p:nvPicPr>
          <p:cNvPr id="3" name="Image 0" descr="preencoded.png"/>
          <p:cNvPicPr>
            <a:picLocks noChangeAspect="1"/>
          </p:cNvPicPr>
          <p:nvPr/>
        </p:nvPicPr>
        <p:blipFill>
          <a:blip r:embed="rId3"/>
          <a:stretch>
            <a:fillRect/>
          </a:stretch>
        </p:blipFill>
        <p:spPr>
          <a:xfrm>
            <a:off x="658368" y="566928"/>
            <a:ext cx="329184" cy="329184"/>
          </a:xfrm>
          <a:prstGeom prst="rect">
            <a:avLst/>
          </a:prstGeom>
        </p:spPr>
      </p:pic>
      <p:sp>
        <p:nvSpPr>
          <p:cNvPr id="4" name="Text 1"/>
          <p:cNvSpPr/>
          <p:nvPr/>
        </p:nvSpPr>
        <p:spPr>
          <a:xfrm>
            <a:off x="1280160" y="384048"/>
            <a:ext cx="3657600" cy="27432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DASHBOARD 3</a:t>
            </a:r>
            <a:endParaRPr lang="en-US" sz="1300" dirty="0"/>
          </a:p>
        </p:txBody>
      </p:sp>
      <p:sp>
        <p:nvSpPr>
          <p:cNvPr id="5" name="Text 2"/>
          <p:cNvSpPr/>
          <p:nvPr/>
        </p:nvSpPr>
        <p:spPr>
          <a:xfrm>
            <a:off x="1280160" y="621792"/>
            <a:ext cx="8229600" cy="50292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Cost &amp; Financial Analysis</a:t>
            </a:r>
            <a:endParaRPr lang="en-US" sz="2800" dirty="0"/>
          </a:p>
        </p:txBody>
      </p:sp>
      <p:sp>
        <p:nvSpPr>
          <p:cNvPr id="6" name="Text 3"/>
          <p:cNvSpPr/>
          <p:nvPr/>
        </p:nvSpPr>
        <p:spPr>
          <a:xfrm>
            <a:off x="1280160" y="1115568"/>
            <a:ext cx="10058400" cy="320040"/>
          </a:xfrm>
          <a:prstGeom prst="rect">
            <a:avLst/>
          </a:prstGeom>
          <a:noFill/>
          <a:ln/>
        </p:spPr>
        <p:txBody>
          <a:bodyPr wrap="square" lIns="0" tIns="0" rIns="0" bIns="0" rtlCol="0" anchor="ctr"/>
          <a:lstStyle/>
          <a:p>
            <a:pPr marL="0" indent="0">
              <a:buNone/>
            </a:pPr>
            <a:r>
              <a:rPr lang="en-US" sz="1300" i="1" dirty="0">
                <a:solidFill>
                  <a:srgbClr val="5B6B82"/>
                </a:solidFill>
                <a:latin typeface="Calibri" pitchFamily="34" charset="0"/>
                <a:ea typeface="Calibri" pitchFamily="34" charset="-122"/>
                <a:cs typeface="Calibri" pitchFamily="34" charset="-120"/>
              </a:rPr>
              <a:t>Where is the company's transportation spend going, and is it justified?</a:t>
            </a:r>
            <a:endParaRPr lang="en-US" sz="1300" dirty="0"/>
          </a:p>
        </p:txBody>
      </p:sp>
      <p:sp>
        <p:nvSpPr>
          <p:cNvPr id="7" name="Shape 4"/>
          <p:cNvSpPr/>
          <p:nvPr/>
        </p:nvSpPr>
        <p:spPr>
          <a:xfrm>
            <a:off x="502920" y="1691640"/>
            <a:ext cx="3383280" cy="1508760"/>
          </a:xfrm>
          <a:prstGeom prst="roundRect">
            <a:avLst>
              <a:gd name="adj" fmla="val 4848"/>
            </a:avLst>
          </a:prstGeom>
          <a:solidFill>
            <a:srgbClr val="1B2A4A"/>
          </a:solidFill>
          <a:ln/>
        </p:spPr>
      </p:sp>
      <p:sp>
        <p:nvSpPr>
          <p:cNvPr id="8" name="Text 5"/>
          <p:cNvSpPr/>
          <p:nvPr/>
        </p:nvSpPr>
        <p:spPr>
          <a:xfrm>
            <a:off x="502920" y="1874520"/>
            <a:ext cx="338328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₦132,895,849</a:t>
            </a:r>
            <a:endParaRPr lang="en-US" sz="3000" dirty="0"/>
          </a:p>
        </p:txBody>
      </p:sp>
      <p:sp>
        <p:nvSpPr>
          <p:cNvPr id="9" name="Text 6"/>
          <p:cNvSpPr/>
          <p:nvPr/>
        </p:nvSpPr>
        <p:spPr>
          <a:xfrm>
            <a:off x="502920" y="2542032"/>
            <a:ext cx="3383280" cy="320040"/>
          </a:xfrm>
          <a:prstGeom prst="rect">
            <a:avLst/>
          </a:prstGeom>
          <a:noFill/>
          <a:ln/>
        </p:spPr>
        <p:txBody>
          <a:bodyPr wrap="square" lIns="0" tIns="0" rIns="0" bIns="0" rtlCol="0" anchor="ctr"/>
          <a:lstStyle/>
          <a:p>
            <a:pPr marL="0" indent="0" algn="ctr">
              <a:buNone/>
            </a:pPr>
            <a:r>
              <a:rPr lang="en-US" sz="1200" b="1" kern="0" spc="100" dirty="0">
                <a:solidFill>
                  <a:srgbClr val="E0954D"/>
                </a:solidFill>
                <a:latin typeface="Calibri" pitchFamily="34" charset="0"/>
                <a:ea typeface="Calibri" pitchFamily="34" charset="-122"/>
                <a:cs typeface="Calibri" pitchFamily="34" charset="-120"/>
              </a:rPr>
              <a:t>TOTAL TRANSPORTATION COST</a:t>
            </a:r>
            <a:endParaRPr lang="en-US" sz="1200" dirty="0"/>
          </a:p>
        </p:txBody>
      </p:sp>
      <p:sp>
        <p:nvSpPr>
          <p:cNvPr id="10" name="Text 7"/>
          <p:cNvSpPr/>
          <p:nvPr/>
        </p:nvSpPr>
        <p:spPr>
          <a:xfrm>
            <a:off x="502920" y="2852928"/>
            <a:ext cx="3383280" cy="274320"/>
          </a:xfrm>
          <a:prstGeom prst="rect">
            <a:avLst/>
          </a:prstGeom>
          <a:noFill/>
          <a:ln/>
        </p:spPr>
        <p:txBody>
          <a:bodyPr wrap="square" lIns="0" tIns="0" rIns="0" bIns="0" rtlCol="0" anchor="ctr"/>
          <a:lstStyle/>
          <a:p>
            <a:pPr marL="0" indent="0" algn="ctr">
              <a:buNone/>
            </a:pPr>
            <a:r>
              <a:rPr lang="en-US" sz="1000" i="1" dirty="0">
                <a:solidFill>
                  <a:srgbClr val="C7D2E3"/>
                </a:solidFill>
                <a:latin typeface="Calibri" pitchFamily="34" charset="0"/>
                <a:ea typeface="Calibri" pitchFamily="34" charset="-122"/>
                <a:cs typeface="Calibri" pitchFamily="34" charset="-120"/>
              </a:rPr>
              <a:t>Across 1,000 shipments | Jan 2023 - Dec 2024</a:t>
            </a:r>
            <a:endParaRPr lang="en-US" sz="1000" dirty="0"/>
          </a:p>
        </p:txBody>
      </p:sp>
      <p:sp>
        <p:nvSpPr>
          <p:cNvPr id="11" name="Text 8"/>
          <p:cNvSpPr/>
          <p:nvPr/>
        </p:nvSpPr>
        <p:spPr>
          <a:xfrm>
            <a:off x="502920" y="3383280"/>
            <a:ext cx="365760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TOTAL COST BY TRANSPORT MODE (₦)</a:t>
            </a:r>
            <a:endParaRPr lang="en-US" sz="1300" dirty="0"/>
          </a:p>
        </p:txBody>
      </p:sp>
      <p:graphicFrame>
        <p:nvGraphicFramePr>
          <p:cNvPr id="12" name="Chart 0"/>
          <p:cNvGraphicFramePr/>
          <p:nvPr>
            <p:extLst>
              <p:ext uri="{D42A27DB-BD31-4B8C-83A1-F6EECF244321}">
                <p14:modId xmlns:p14="http://schemas.microsoft.com/office/powerpoint/2010/main" val="2262469653"/>
              </p:ext>
            </p:extLst>
          </p:nvPr>
        </p:nvGraphicFramePr>
        <p:xfrm>
          <a:off x="502920" y="3657600"/>
          <a:ext cx="338328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9"/>
          <p:cNvSpPr/>
          <p:nvPr/>
        </p:nvSpPr>
        <p:spPr>
          <a:xfrm>
            <a:off x="4160520" y="1691640"/>
            <a:ext cx="393192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TOP ROUTES BY FUEL COST (₦)</a:t>
            </a:r>
            <a:endParaRPr lang="en-US" sz="1300" dirty="0"/>
          </a:p>
        </p:txBody>
      </p:sp>
      <p:graphicFrame>
        <p:nvGraphicFramePr>
          <p:cNvPr id="14" name="Chart 1"/>
          <p:cNvGraphicFramePr/>
          <p:nvPr>
            <p:extLst>
              <p:ext uri="{D42A27DB-BD31-4B8C-83A1-F6EECF244321}">
                <p14:modId xmlns:p14="http://schemas.microsoft.com/office/powerpoint/2010/main" val="1529194764"/>
              </p:ext>
            </p:extLst>
          </p:nvPr>
        </p:nvGraphicFramePr>
        <p:xfrm>
          <a:off x="4069080" y="2011680"/>
          <a:ext cx="4114800" cy="2423160"/>
        </p:xfrm>
        <a:graphic>
          <a:graphicData uri="http://schemas.openxmlformats.org/drawingml/2006/chart">
            <c:chart xmlns:c="http://schemas.openxmlformats.org/drawingml/2006/chart" xmlns:r="http://schemas.openxmlformats.org/officeDocument/2006/relationships" r:id="rId5"/>
          </a:graphicData>
        </a:graphic>
      </p:graphicFrame>
      <p:sp>
        <p:nvSpPr>
          <p:cNvPr id="15" name="Shape 10"/>
          <p:cNvSpPr/>
          <p:nvPr/>
        </p:nvSpPr>
        <p:spPr>
          <a:xfrm>
            <a:off x="4069080" y="4617720"/>
            <a:ext cx="4114800" cy="1508760"/>
          </a:xfrm>
          <a:prstGeom prst="roundRect">
            <a:avLst>
              <a:gd name="adj" fmla="val 3636"/>
            </a:avLst>
          </a:prstGeom>
          <a:solidFill>
            <a:srgbClr val="F4F7FB"/>
          </a:solidFill>
          <a:ln/>
        </p:spPr>
      </p:sp>
      <p:pic>
        <p:nvPicPr>
          <p:cNvPr id="16" name="Image 1" descr="preencoded.png"/>
          <p:cNvPicPr>
            <a:picLocks noChangeAspect="1"/>
          </p:cNvPicPr>
          <p:nvPr/>
        </p:nvPicPr>
        <p:blipFill>
          <a:blip r:embed="rId6"/>
          <a:stretch>
            <a:fillRect/>
          </a:stretch>
        </p:blipFill>
        <p:spPr>
          <a:xfrm>
            <a:off x="4297680" y="4800600"/>
            <a:ext cx="320040" cy="320040"/>
          </a:xfrm>
          <a:prstGeom prst="rect">
            <a:avLst/>
          </a:prstGeom>
        </p:spPr>
      </p:pic>
      <p:sp>
        <p:nvSpPr>
          <p:cNvPr id="17" name="Text 11"/>
          <p:cNvSpPr/>
          <p:nvPr/>
        </p:nvSpPr>
        <p:spPr>
          <a:xfrm>
            <a:off x="4754880" y="4800600"/>
            <a:ext cx="3291840" cy="32004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The cost-performance mismatch</a:t>
            </a:r>
            <a:endParaRPr lang="en-US" sz="1250" dirty="0"/>
          </a:p>
        </p:txBody>
      </p:sp>
      <p:sp>
        <p:nvSpPr>
          <p:cNvPr id="18" name="Text 12"/>
          <p:cNvSpPr/>
          <p:nvPr/>
        </p:nvSpPr>
        <p:spPr>
          <a:xfrm>
            <a:off x="4297680" y="5166360"/>
            <a:ext cx="3703320" cy="868680"/>
          </a:xfrm>
          <a:prstGeom prst="rect">
            <a:avLst/>
          </a:prstGeom>
          <a:noFill/>
          <a:ln/>
        </p:spPr>
        <p:txBody>
          <a:bodyPr wrap="square" lIns="0" tIns="0" rIns="0" bIns="0" rtlCol="0" anchor="ctr"/>
          <a:lstStyle/>
          <a:p>
            <a:pPr marL="0" indent="0">
              <a:lnSpc>
                <a:spcPct val="120000"/>
              </a:lnSpc>
              <a:buNone/>
            </a:pPr>
            <a:r>
              <a:rPr lang="en-US" sz="1250" dirty="0">
                <a:solidFill>
                  <a:srgbClr val="33415C"/>
                </a:solidFill>
                <a:latin typeface="Calibri" pitchFamily="34" charset="0"/>
                <a:ea typeface="Calibri" pitchFamily="34" charset="-122"/>
                <a:cs typeface="Calibri" pitchFamily="34" charset="-120"/>
              </a:rPr>
              <a:t>Truck is both the MOST EXPENSIVE mode (₦46M) and the mode with the MOST DELAYS (119) — we are paying the most for the least reliable service.</a:t>
            </a:r>
            <a:endParaRPr lang="en-US" sz="1250" dirty="0"/>
          </a:p>
        </p:txBody>
      </p:sp>
      <p:sp>
        <p:nvSpPr>
          <p:cNvPr id="19" name="Text 13"/>
          <p:cNvSpPr/>
          <p:nvPr/>
        </p:nvSpPr>
        <p:spPr>
          <a:xfrm>
            <a:off x="8458200" y="1691640"/>
            <a:ext cx="329184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KEY FINDINGS</a:t>
            </a:r>
            <a:endParaRPr lang="en-US" sz="1300" dirty="0"/>
          </a:p>
        </p:txBody>
      </p:sp>
      <p:sp>
        <p:nvSpPr>
          <p:cNvPr id="20" name="Text 14"/>
          <p:cNvSpPr/>
          <p:nvPr/>
        </p:nvSpPr>
        <p:spPr>
          <a:xfrm>
            <a:off x="8458200" y="2011680"/>
            <a:ext cx="3291840" cy="228600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50" dirty="0">
                <a:solidFill>
                  <a:srgbClr val="33415C"/>
                </a:solidFill>
                <a:latin typeface="Calibri" pitchFamily="34" charset="0"/>
                <a:ea typeface="Calibri" pitchFamily="34" charset="-122"/>
                <a:cs typeface="Calibri" pitchFamily="34" charset="-120"/>
              </a:rPr>
              <a:t>Total transportation cost: ₦132.9M over 2 years.</a:t>
            </a:r>
            <a:endParaRPr lang="en-US" sz="1250" dirty="0"/>
          </a:p>
          <a:p>
            <a:pPr marL="342900" indent="-342900">
              <a:lnSpc>
                <a:spcPct val="115000"/>
              </a:lnSpc>
              <a:spcAft>
                <a:spcPts val="800"/>
              </a:spcAft>
              <a:buSzPct val="100000"/>
              <a:buChar char="•"/>
            </a:pPr>
            <a:r>
              <a:rPr lang="en-US" sz="1250" dirty="0">
                <a:solidFill>
                  <a:srgbClr val="33415C"/>
                </a:solidFill>
                <a:latin typeface="Calibri" pitchFamily="34" charset="0"/>
                <a:ea typeface="Calibri" pitchFamily="34" charset="-122"/>
                <a:cs typeface="Calibri" pitchFamily="34" charset="-120"/>
              </a:rPr>
              <a:t>Truck is the most expensive mode (₦46.0M) despite the most delays.</a:t>
            </a:r>
            <a:endParaRPr lang="en-US" sz="1250" dirty="0"/>
          </a:p>
          <a:p>
            <a:pPr marL="342900" indent="-342900">
              <a:lnSpc>
                <a:spcPct val="115000"/>
              </a:lnSpc>
              <a:spcAft>
                <a:spcPts val="800"/>
              </a:spcAft>
              <a:buSzPct val="100000"/>
              <a:buChar char="•"/>
            </a:pPr>
            <a:r>
              <a:rPr lang="en-US" sz="1250" dirty="0">
                <a:solidFill>
                  <a:srgbClr val="33415C"/>
                </a:solidFill>
                <a:latin typeface="Calibri" pitchFamily="34" charset="0"/>
                <a:ea typeface="Calibri" pitchFamily="34" charset="-122"/>
                <a:cs typeface="Calibri" pitchFamily="34" charset="-120"/>
              </a:rPr>
              <a:t>Lagos→Ibadan generates the highest fuel cost (₦588,870).</a:t>
            </a:r>
            <a:endParaRPr lang="en-US" sz="1250" dirty="0"/>
          </a:p>
          <a:p>
            <a:pPr marL="342900" indent="-342900">
              <a:lnSpc>
                <a:spcPct val="115000"/>
              </a:lnSpc>
              <a:spcAft>
                <a:spcPts val="800"/>
              </a:spcAft>
              <a:buSzPct val="100000"/>
              <a:buChar char="•"/>
            </a:pPr>
            <a:r>
              <a:rPr lang="en-US" sz="1250" dirty="0">
                <a:solidFill>
                  <a:srgbClr val="33415C"/>
                </a:solidFill>
                <a:latin typeface="Calibri" pitchFamily="34" charset="0"/>
                <a:ea typeface="Calibri" pitchFamily="34" charset="-122"/>
                <a:cs typeface="Calibri" pitchFamily="34" charset="-120"/>
              </a:rPr>
              <a:t>Several shipments show costs far above normal — possible billing errors or fraud.</a:t>
            </a:r>
          </a:p>
          <a:p>
            <a:pPr marL="342900" indent="-342900">
              <a:lnSpc>
                <a:spcPct val="115000"/>
              </a:lnSpc>
              <a:spcAft>
                <a:spcPts val="800"/>
              </a:spcAft>
              <a:buSzPct val="100000"/>
              <a:buChar char="•"/>
            </a:pPr>
            <a:endParaRPr lang="en-US" sz="1250" dirty="0">
              <a:solidFill>
                <a:srgbClr val="33415C"/>
              </a:solidFill>
              <a:latin typeface="Calibri" pitchFamily="34" charset="0"/>
              <a:ea typeface="Calibri" pitchFamily="34" charset="-122"/>
              <a:cs typeface="Calibri" pitchFamily="34" charset="-120"/>
            </a:endParaRPr>
          </a:p>
        </p:txBody>
      </p:sp>
      <p:sp>
        <p:nvSpPr>
          <p:cNvPr id="21" name="Text 15"/>
          <p:cNvSpPr/>
          <p:nvPr/>
        </p:nvSpPr>
        <p:spPr>
          <a:xfrm>
            <a:off x="8458200" y="4434840"/>
            <a:ext cx="3291840" cy="292608"/>
          </a:xfrm>
          <a:prstGeom prst="rect">
            <a:avLst/>
          </a:prstGeom>
          <a:noFill/>
          <a:ln/>
        </p:spPr>
        <p:txBody>
          <a:bodyPr wrap="square" lIns="0" tIns="0" rIns="0" bIns="0" rtlCol="0" anchor="ctr"/>
          <a:lstStyle/>
          <a:p>
            <a:pPr marL="0" indent="0">
              <a:buNone/>
            </a:pPr>
            <a:r>
              <a:rPr lang="en-US" sz="1300" b="1" kern="0" spc="150" dirty="0">
                <a:solidFill>
                  <a:srgbClr val="3E8E5A"/>
                </a:solidFill>
                <a:latin typeface="Calibri" pitchFamily="34" charset="0"/>
                <a:ea typeface="Calibri" pitchFamily="34" charset="-122"/>
                <a:cs typeface="Calibri" pitchFamily="34" charset="-120"/>
              </a:rPr>
              <a:t>RECOMMENDATIONS</a:t>
            </a:r>
            <a:endParaRPr lang="en-US" sz="1300" dirty="0"/>
          </a:p>
        </p:txBody>
      </p:sp>
      <p:sp>
        <p:nvSpPr>
          <p:cNvPr id="22" name="Text 16"/>
          <p:cNvSpPr/>
          <p:nvPr/>
        </p:nvSpPr>
        <p:spPr>
          <a:xfrm>
            <a:off x="8458200" y="4754880"/>
            <a:ext cx="3291840" cy="146304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50" dirty="0">
                <a:solidFill>
                  <a:srgbClr val="33415C"/>
                </a:solidFill>
                <a:latin typeface="Calibri" pitchFamily="34" charset="0"/>
                <a:ea typeface="Calibri" pitchFamily="34" charset="-122"/>
                <a:cs typeface="Calibri" pitchFamily="34" charset="-120"/>
              </a:rPr>
              <a:t>Audit the top 10 highest-cost shipments for errors or fraud.</a:t>
            </a:r>
            <a:endParaRPr lang="en-US" sz="1250" dirty="0"/>
          </a:p>
          <a:p>
            <a:pPr marL="342900" indent="-342900">
              <a:lnSpc>
                <a:spcPct val="115000"/>
              </a:lnSpc>
              <a:spcAft>
                <a:spcPts val="800"/>
              </a:spcAft>
              <a:buSzPct val="100000"/>
              <a:buChar char="•"/>
            </a:pPr>
            <a:r>
              <a:rPr lang="en-US" sz="1250" dirty="0">
                <a:solidFill>
                  <a:srgbClr val="33415C"/>
                </a:solidFill>
                <a:latin typeface="Calibri" pitchFamily="34" charset="0"/>
                <a:ea typeface="Calibri" pitchFamily="34" charset="-122"/>
                <a:cs typeface="Calibri" pitchFamily="34" charset="-120"/>
              </a:rPr>
              <a:t>Renegotiate fuel contracts for Lagos-Ibadan &amp; Kano-Oyo routes.</a:t>
            </a:r>
            <a:endParaRPr lang="en-US" sz="1250" dirty="0"/>
          </a:p>
          <a:p>
            <a:pPr marL="342900" indent="-342900">
              <a:lnSpc>
                <a:spcPct val="115000"/>
              </a:lnSpc>
              <a:spcAft>
                <a:spcPts val="800"/>
              </a:spcAft>
              <a:buSzPct val="100000"/>
              <a:buChar char="•"/>
            </a:pPr>
            <a:r>
              <a:rPr lang="en-US" sz="1250" dirty="0">
                <a:solidFill>
                  <a:srgbClr val="33415C"/>
                </a:solidFill>
                <a:latin typeface="Calibri" pitchFamily="34" charset="0"/>
                <a:ea typeface="Calibri" pitchFamily="34" charset="-122"/>
                <a:cs typeface="Calibri" pitchFamily="34" charset="-120"/>
              </a:rPr>
              <a:t>Set a max. cost-per-km benchmark with automatic flagging.</a:t>
            </a:r>
            <a:endParaRPr lang="en-US" sz="1250" dirty="0"/>
          </a:p>
        </p:txBody>
      </p:sp>
      <p:sp>
        <p:nvSpPr>
          <p:cNvPr id="23" name="Text 17"/>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7</a:t>
            </a:r>
            <a:endParaRPr lang="en-US" sz="1000" dirty="0"/>
          </a:p>
        </p:txBody>
      </p:sp>
      <p:sp>
        <p:nvSpPr>
          <p:cNvPr id="24" name="Text 18"/>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8778240" y="-2560320"/>
            <a:ext cx="5486400" cy="5486400"/>
          </a:xfrm>
          <a:prstGeom prst="ellipse">
            <a:avLst/>
          </a:prstGeom>
          <a:solidFill>
            <a:srgbClr val="1B2A4A">
              <a:alpha val="60000"/>
            </a:srgbClr>
          </a:solidFill>
          <a:ln/>
        </p:spPr>
      </p:sp>
      <p:sp>
        <p:nvSpPr>
          <p:cNvPr id="3" name="Shape 1"/>
          <p:cNvSpPr/>
          <p:nvPr/>
        </p:nvSpPr>
        <p:spPr>
          <a:xfrm>
            <a:off x="-2286000" y="4114800"/>
            <a:ext cx="5029200" cy="5029200"/>
          </a:xfrm>
          <a:prstGeom prst="ellipse">
            <a:avLst/>
          </a:prstGeom>
          <a:solidFill>
            <a:srgbClr val="3D5A80">
              <a:alpha val="35000"/>
            </a:srgbClr>
          </a:solidFill>
          <a:ln/>
        </p:spPr>
      </p:sp>
      <p:sp>
        <p:nvSpPr>
          <p:cNvPr id="4" name="Text 2"/>
          <p:cNvSpPr/>
          <p:nvPr/>
        </p:nvSpPr>
        <p:spPr>
          <a:xfrm>
            <a:off x="8778240" y="320040"/>
            <a:ext cx="2926080" cy="2926080"/>
          </a:xfrm>
          <a:prstGeom prst="rect">
            <a:avLst/>
          </a:prstGeom>
          <a:noFill/>
          <a:ln/>
        </p:spPr>
        <p:txBody>
          <a:bodyPr wrap="square" lIns="0" tIns="0" rIns="0" bIns="0" rtlCol="0" anchor="ctr"/>
          <a:lstStyle/>
          <a:p>
            <a:pPr marL="0" indent="0" algn="ctr">
              <a:buNone/>
            </a:pPr>
            <a:r>
              <a:rPr lang="en-US" sz="18000" b="1" dirty="0">
                <a:solidFill>
                  <a:srgbClr val="1B2A4A"/>
                </a:solidFill>
                <a:latin typeface="Cambria" pitchFamily="34" charset="0"/>
                <a:ea typeface="Cambria" pitchFamily="34" charset="-122"/>
                <a:cs typeface="Cambria" pitchFamily="34" charset="-120"/>
              </a:rPr>
              <a:t>4</a:t>
            </a:r>
            <a:endParaRPr lang="en-US" sz="18000" dirty="0"/>
          </a:p>
        </p:txBody>
      </p:sp>
      <p:sp>
        <p:nvSpPr>
          <p:cNvPr id="5" name="Shape 3"/>
          <p:cNvSpPr/>
          <p:nvPr/>
        </p:nvSpPr>
        <p:spPr>
          <a:xfrm>
            <a:off x="822960" y="685800"/>
            <a:ext cx="822960" cy="822960"/>
          </a:xfrm>
          <a:prstGeom prst="ellipse">
            <a:avLst/>
          </a:prstGeom>
          <a:solidFill>
            <a:srgbClr val="E0954D"/>
          </a:solidFill>
          <a:ln/>
        </p:spPr>
      </p:sp>
      <p:pic>
        <p:nvPicPr>
          <p:cNvPr id="6" name="Image 0" descr="preencoded.png"/>
          <p:cNvPicPr>
            <a:picLocks noChangeAspect="1"/>
          </p:cNvPicPr>
          <p:nvPr/>
        </p:nvPicPr>
        <p:blipFill>
          <a:blip r:embed="rId3"/>
          <a:stretch>
            <a:fillRect/>
          </a:stretch>
        </p:blipFill>
        <p:spPr>
          <a:xfrm>
            <a:off x="1033272" y="896112"/>
            <a:ext cx="402336" cy="402336"/>
          </a:xfrm>
          <a:prstGeom prst="rect">
            <a:avLst/>
          </a:prstGeom>
        </p:spPr>
      </p:pic>
      <p:sp>
        <p:nvSpPr>
          <p:cNvPr id="7" name="Text 4"/>
          <p:cNvSpPr/>
          <p:nvPr/>
        </p:nvSpPr>
        <p:spPr>
          <a:xfrm>
            <a:off x="1783080" y="713232"/>
            <a:ext cx="5486400" cy="320040"/>
          </a:xfrm>
          <a:prstGeom prst="rect">
            <a:avLst/>
          </a:prstGeom>
          <a:noFill/>
          <a:ln/>
        </p:spPr>
        <p:txBody>
          <a:bodyPr wrap="square" lIns="0" tIns="0" rIns="0" bIns="0" rtlCol="0" anchor="ctr"/>
          <a:lstStyle/>
          <a:p>
            <a:pPr marL="0" indent="0">
              <a:buNone/>
            </a:pPr>
            <a:r>
              <a:rPr lang="en-US" sz="1400" b="1" kern="0" spc="300" dirty="0">
                <a:solidFill>
                  <a:srgbClr val="E0954D"/>
                </a:solidFill>
                <a:latin typeface="Calibri" pitchFamily="34" charset="0"/>
                <a:ea typeface="Calibri" pitchFamily="34" charset="-122"/>
                <a:cs typeface="Calibri" pitchFamily="34" charset="-120"/>
              </a:rPr>
              <a:t>DASHBOARD 4</a:t>
            </a:r>
            <a:endParaRPr lang="en-US" sz="1400" dirty="0"/>
          </a:p>
        </p:txBody>
      </p:sp>
      <p:sp>
        <p:nvSpPr>
          <p:cNvPr id="8" name="Text 5"/>
          <p:cNvSpPr/>
          <p:nvPr/>
        </p:nvSpPr>
        <p:spPr>
          <a:xfrm>
            <a:off x="1783080" y="1024128"/>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Payment &amp; Customer Analysis</a:t>
            </a:r>
            <a:endParaRPr lang="en-US" sz="3200" dirty="0"/>
          </a:p>
        </p:txBody>
      </p:sp>
      <p:sp>
        <p:nvSpPr>
          <p:cNvPr id="9" name="Text 6"/>
          <p:cNvSpPr/>
          <p:nvPr/>
        </p:nvSpPr>
        <p:spPr>
          <a:xfrm>
            <a:off x="822960" y="2331720"/>
            <a:ext cx="5486400" cy="320040"/>
          </a:xfrm>
          <a:prstGeom prst="rect">
            <a:avLst/>
          </a:prstGeom>
          <a:noFill/>
          <a:ln/>
        </p:spPr>
        <p:txBody>
          <a:bodyPr wrap="square" lIns="0" tIns="0" rIns="0" bIns="0" rtlCol="0" anchor="ctr"/>
          <a:lstStyle/>
          <a:p>
            <a:pPr marL="0" indent="0">
              <a:buNone/>
            </a:pPr>
            <a:r>
              <a:rPr lang="en-US" sz="1200" b="1" kern="0" spc="250" dirty="0">
                <a:solidFill>
                  <a:srgbClr val="7E93B8"/>
                </a:solidFill>
                <a:latin typeface="Calibri" pitchFamily="34" charset="0"/>
                <a:ea typeface="Calibri" pitchFamily="34" charset="-122"/>
                <a:cs typeface="Calibri" pitchFamily="34" charset="-120"/>
              </a:rPr>
              <a:t>THE STORY SO FAR</a:t>
            </a:r>
            <a:endParaRPr lang="en-US" sz="1200" dirty="0"/>
          </a:p>
        </p:txBody>
      </p:sp>
      <p:sp>
        <p:nvSpPr>
          <p:cNvPr id="10" name="Text 7"/>
          <p:cNvSpPr/>
          <p:nvPr/>
        </p:nvSpPr>
        <p:spPr>
          <a:xfrm>
            <a:off x="822960" y="2697480"/>
            <a:ext cx="8778240" cy="1828800"/>
          </a:xfrm>
          <a:prstGeom prst="rect">
            <a:avLst/>
          </a:prstGeom>
          <a:noFill/>
          <a:ln/>
        </p:spPr>
        <p:txBody>
          <a:bodyPr wrap="square" lIns="0" tIns="0" rIns="0" bIns="0" rtlCol="0" anchor="ctr"/>
          <a:lstStyle/>
          <a:p>
            <a:pPr marL="0" indent="0">
              <a:lnSpc>
                <a:spcPct val="135000"/>
              </a:lnSpc>
              <a:buNone/>
            </a:pPr>
            <a:r>
              <a:rPr lang="en-US" sz="1800" dirty="0">
                <a:solidFill>
                  <a:srgbClr val="DCE4F2"/>
                </a:solidFill>
                <a:latin typeface="Cambria" pitchFamily="34" charset="0"/>
                <a:ea typeface="Cambria" pitchFamily="34" charset="-122"/>
                <a:cs typeface="Cambria" pitchFamily="34" charset="-120"/>
              </a:rPr>
              <a:t>Delivering a shipment is only half of the job — getting paid for it is the other half. This dashboard turns to the financial side of the relationship with our customers, examining how much of our revenue is still sitting uncollected, which customers are responsible for the largest share of unpaid invoices, and what this means for the company's day-to-day cash flow.</a:t>
            </a:r>
            <a:endParaRPr lang="en-US" sz="1800" dirty="0"/>
          </a:p>
        </p:txBody>
      </p:sp>
      <p:sp>
        <p:nvSpPr>
          <p:cNvPr id="11" name="Shape 8"/>
          <p:cNvSpPr/>
          <p:nvPr/>
        </p:nvSpPr>
        <p:spPr>
          <a:xfrm>
            <a:off x="822960" y="4800600"/>
            <a:ext cx="10561320" cy="1234440"/>
          </a:xfrm>
          <a:prstGeom prst="roundRect">
            <a:avLst>
              <a:gd name="adj" fmla="val 5926"/>
            </a:avLst>
          </a:prstGeom>
          <a:solidFill>
            <a:srgbClr val="1B2A4A"/>
          </a:solidFill>
          <a:ln w="12700">
            <a:solidFill>
              <a:srgbClr val="E0954D"/>
            </a:solidFill>
            <a:prstDash val="solid"/>
          </a:ln>
        </p:spPr>
      </p:sp>
      <p:sp>
        <p:nvSpPr>
          <p:cNvPr id="12" name="Text 9"/>
          <p:cNvSpPr/>
          <p:nvPr/>
        </p:nvSpPr>
        <p:spPr>
          <a:xfrm>
            <a:off x="1097280" y="4983480"/>
            <a:ext cx="10058400" cy="320040"/>
          </a:xfrm>
          <a:prstGeom prst="rect">
            <a:avLst/>
          </a:prstGeom>
          <a:noFill/>
          <a:ln/>
        </p:spPr>
        <p:txBody>
          <a:bodyPr wrap="square" lIns="0" tIns="0" rIns="0" bIns="0" rtlCol="0" anchor="ctr"/>
          <a:lstStyle/>
          <a:p>
            <a:pPr marL="0" indent="0">
              <a:buNone/>
            </a:pPr>
            <a:r>
              <a:rPr lang="en-US" sz="1200" b="1" kern="0" spc="200" dirty="0">
                <a:solidFill>
                  <a:srgbClr val="E0954D"/>
                </a:solidFill>
                <a:latin typeface="Calibri" pitchFamily="34" charset="0"/>
                <a:ea typeface="Calibri" pitchFamily="34" charset="-122"/>
                <a:cs typeface="Calibri" pitchFamily="34" charset="-120"/>
              </a:rPr>
              <a:t>THE QUESTION THIS DASHBOARD ANSWERS</a:t>
            </a:r>
            <a:endParaRPr lang="en-US" sz="1200" dirty="0"/>
          </a:p>
        </p:txBody>
      </p:sp>
      <p:sp>
        <p:nvSpPr>
          <p:cNvPr id="13" name="Text 10"/>
          <p:cNvSpPr/>
          <p:nvPr/>
        </p:nvSpPr>
        <p:spPr>
          <a:xfrm>
            <a:off x="1097280" y="5303520"/>
            <a:ext cx="10058400" cy="640080"/>
          </a:xfrm>
          <a:prstGeom prst="rect">
            <a:avLst/>
          </a:prstGeom>
          <a:noFill/>
          <a:ln/>
        </p:spPr>
        <p:txBody>
          <a:bodyPr wrap="square" lIns="0" tIns="0" rIns="0" bIns="0" rtlCol="0" anchor="ctr"/>
          <a:lstStyle/>
          <a:p>
            <a:pPr marL="0" indent="0">
              <a:buNone/>
            </a:pPr>
            <a:r>
              <a:rPr lang="en-US" sz="1900" b="1" i="1" dirty="0">
                <a:solidFill>
                  <a:srgbClr val="FFFFFF"/>
                </a:solidFill>
                <a:latin typeface="Cambria" pitchFamily="34" charset="0"/>
                <a:ea typeface="Cambria" pitchFamily="34" charset="-122"/>
                <a:cs typeface="Cambria" pitchFamily="34" charset="-120"/>
              </a:rPr>
              <a:t>How much money are we currently owed, and by which customers?</a:t>
            </a:r>
            <a:endParaRPr lang="en-US" sz="1900" dirty="0"/>
          </a:p>
        </p:txBody>
      </p:sp>
      <p:sp>
        <p:nvSpPr>
          <p:cNvPr id="14" name="Text 11"/>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10</a:t>
            </a:r>
            <a:endParaRPr lang="en-US" sz="1000" dirty="0"/>
          </a:p>
        </p:txBody>
      </p:sp>
      <p:sp>
        <p:nvSpPr>
          <p:cNvPr id="15" name="Text 12"/>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502920" y="411480"/>
            <a:ext cx="640080" cy="640080"/>
          </a:xfrm>
          <a:prstGeom prst="ellipse">
            <a:avLst/>
          </a:prstGeom>
          <a:solidFill>
            <a:srgbClr val="E0954D"/>
          </a:solidFill>
          <a:ln/>
        </p:spPr>
      </p:sp>
      <p:pic>
        <p:nvPicPr>
          <p:cNvPr id="3" name="Image 0" descr="preencoded.png"/>
          <p:cNvPicPr>
            <a:picLocks noChangeAspect="1"/>
          </p:cNvPicPr>
          <p:nvPr/>
        </p:nvPicPr>
        <p:blipFill>
          <a:blip r:embed="rId3"/>
          <a:stretch>
            <a:fillRect/>
          </a:stretch>
        </p:blipFill>
        <p:spPr>
          <a:xfrm>
            <a:off x="658368" y="566928"/>
            <a:ext cx="329184" cy="329184"/>
          </a:xfrm>
          <a:prstGeom prst="rect">
            <a:avLst/>
          </a:prstGeom>
        </p:spPr>
      </p:pic>
      <p:sp>
        <p:nvSpPr>
          <p:cNvPr id="4" name="Text 1"/>
          <p:cNvSpPr/>
          <p:nvPr/>
        </p:nvSpPr>
        <p:spPr>
          <a:xfrm>
            <a:off x="1280160" y="384048"/>
            <a:ext cx="3657600" cy="27432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DASHBOARD 4</a:t>
            </a:r>
            <a:endParaRPr lang="en-US" sz="1300" dirty="0"/>
          </a:p>
        </p:txBody>
      </p:sp>
      <p:sp>
        <p:nvSpPr>
          <p:cNvPr id="5" name="Text 2"/>
          <p:cNvSpPr/>
          <p:nvPr/>
        </p:nvSpPr>
        <p:spPr>
          <a:xfrm>
            <a:off x="1280160" y="6217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Payment &amp; Customer Analysis</a:t>
            </a:r>
            <a:endParaRPr lang="en-US" sz="2800" dirty="0"/>
          </a:p>
        </p:txBody>
      </p:sp>
      <p:sp>
        <p:nvSpPr>
          <p:cNvPr id="6" name="Text 3"/>
          <p:cNvSpPr/>
          <p:nvPr/>
        </p:nvSpPr>
        <p:spPr>
          <a:xfrm>
            <a:off x="1280160" y="1115568"/>
            <a:ext cx="10058400" cy="320040"/>
          </a:xfrm>
          <a:prstGeom prst="rect">
            <a:avLst/>
          </a:prstGeom>
          <a:noFill/>
          <a:ln/>
        </p:spPr>
        <p:txBody>
          <a:bodyPr wrap="square" lIns="0" tIns="0" rIns="0" bIns="0" rtlCol="0" anchor="ctr"/>
          <a:lstStyle/>
          <a:p>
            <a:pPr marL="0" indent="0">
              <a:buNone/>
            </a:pPr>
            <a:r>
              <a:rPr lang="en-US" sz="1300" i="1" dirty="0">
                <a:solidFill>
                  <a:srgbClr val="9AA7BD"/>
                </a:solidFill>
                <a:latin typeface="Calibri" pitchFamily="34" charset="0"/>
                <a:ea typeface="Calibri" pitchFamily="34" charset="-122"/>
                <a:cs typeface="Calibri" pitchFamily="34" charset="-120"/>
              </a:rPr>
              <a:t>A cash-flow emergency: half of all shipments remain unpaid.</a:t>
            </a:r>
            <a:endParaRPr lang="en-US" sz="1300" dirty="0"/>
          </a:p>
        </p:txBody>
      </p:sp>
      <p:sp>
        <p:nvSpPr>
          <p:cNvPr id="7" name="Shape 4"/>
          <p:cNvSpPr/>
          <p:nvPr/>
        </p:nvSpPr>
        <p:spPr>
          <a:xfrm>
            <a:off x="502920" y="1691640"/>
            <a:ext cx="3520440" cy="1691640"/>
          </a:xfrm>
          <a:prstGeom prst="roundRect">
            <a:avLst>
              <a:gd name="adj" fmla="val 4324"/>
            </a:avLst>
          </a:prstGeom>
          <a:solidFill>
            <a:srgbClr val="1B2A4A"/>
          </a:solidFill>
          <a:ln/>
        </p:spPr>
      </p:sp>
      <p:sp>
        <p:nvSpPr>
          <p:cNvPr id="8" name="Text 5"/>
          <p:cNvSpPr/>
          <p:nvPr/>
        </p:nvSpPr>
        <p:spPr>
          <a:xfrm>
            <a:off x="502920" y="1828800"/>
            <a:ext cx="3520440" cy="777240"/>
          </a:xfrm>
          <a:prstGeom prst="rect">
            <a:avLst/>
          </a:prstGeom>
          <a:noFill/>
          <a:ln/>
        </p:spPr>
        <p:txBody>
          <a:bodyPr wrap="square" lIns="0" tIns="0" rIns="0" bIns="0" rtlCol="0" anchor="ctr"/>
          <a:lstStyle/>
          <a:p>
            <a:pPr marL="0" indent="0" algn="ctr">
              <a:buNone/>
            </a:pPr>
            <a:r>
              <a:rPr lang="en-US" sz="4600" b="1" dirty="0">
                <a:solidFill>
                  <a:srgbClr val="C0392B"/>
                </a:solidFill>
                <a:latin typeface="Cambria" pitchFamily="34" charset="0"/>
                <a:ea typeface="Cambria" pitchFamily="34" charset="-122"/>
                <a:cs typeface="Cambria" pitchFamily="34" charset="-120"/>
              </a:rPr>
              <a:t>50%</a:t>
            </a:r>
            <a:endParaRPr lang="en-US" sz="4600" dirty="0"/>
          </a:p>
        </p:txBody>
      </p:sp>
      <p:sp>
        <p:nvSpPr>
          <p:cNvPr id="9" name="Text 6"/>
          <p:cNvSpPr/>
          <p:nvPr/>
        </p:nvSpPr>
        <p:spPr>
          <a:xfrm>
            <a:off x="502920" y="2670048"/>
            <a:ext cx="3520440" cy="274320"/>
          </a:xfrm>
          <a:prstGeom prst="rect">
            <a:avLst/>
          </a:prstGeom>
          <a:noFill/>
          <a:ln/>
        </p:spPr>
        <p:txBody>
          <a:bodyPr wrap="square" lIns="0" tIns="0" rIns="0" bIns="0" rtlCol="0" anchor="ctr"/>
          <a:lstStyle/>
          <a:p>
            <a:pPr marL="0" indent="0" algn="ctr">
              <a:buNone/>
            </a:pPr>
            <a:r>
              <a:rPr lang="en-US" sz="1200" b="1" kern="0" spc="100" dirty="0">
                <a:solidFill>
                  <a:srgbClr val="E0954D"/>
                </a:solidFill>
                <a:latin typeface="Calibri" pitchFamily="34" charset="0"/>
                <a:ea typeface="Calibri" pitchFamily="34" charset="-122"/>
                <a:cs typeface="Calibri" pitchFamily="34" charset="-120"/>
              </a:rPr>
              <a:t>OF ALL SHIPMENTS ARE UNPAID</a:t>
            </a:r>
            <a:endParaRPr lang="en-US" sz="1200" dirty="0"/>
          </a:p>
        </p:txBody>
      </p:sp>
      <p:sp>
        <p:nvSpPr>
          <p:cNvPr id="10" name="Text 7"/>
          <p:cNvSpPr/>
          <p:nvPr/>
        </p:nvSpPr>
        <p:spPr>
          <a:xfrm>
            <a:off x="502920" y="2971800"/>
            <a:ext cx="3520440" cy="274320"/>
          </a:xfrm>
          <a:prstGeom prst="rect">
            <a:avLst/>
          </a:prstGeom>
          <a:noFill/>
          <a:ln/>
        </p:spPr>
        <p:txBody>
          <a:bodyPr wrap="square" lIns="0" tIns="0" rIns="0" bIns="0" rtlCol="0" anchor="ctr"/>
          <a:lstStyle/>
          <a:p>
            <a:pPr marL="0" indent="0" algn="ctr">
              <a:buNone/>
            </a:pPr>
            <a:r>
              <a:rPr lang="en-US" sz="1100" i="1" dirty="0">
                <a:solidFill>
                  <a:srgbClr val="9AA7BD"/>
                </a:solidFill>
                <a:latin typeface="Calibri" pitchFamily="34" charset="0"/>
                <a:ea typeface="Calibri" pitchFamily="34" charset="-122"/>
                <a:cs typeface="Calibri" pitchFamily="34" charset="-120"/>
              </a:rPr>
              <a:t>500 of 1,000 shipments</a:t>
            </a:r>
            <a:endParaRPr lang="en-US" sz="1100" dirty="0"/>
          </a:p>
        </p:txBody>
      </p:sp>
      <p:sp>
        <p:nvSpPr>
          <p:cNvPr id="11" name="Shape 8"/>
          <p:cNvSpPr/>
          <p:nvPr/>
        </p:nvSpPr>
        <p:spPr>
          <a:xfrm>
            <a:off x="4160520" y="1691640"/>
            <a:ext cx="3520440" cy="1691640"/>
          </a:xfrm>
          <a:prstGeom prst="roundRect">
            <a:avLst>
              <a:gd name="adj" fmla="val 4324"/>
            </a:avLst>
          </a:prstGeom>
          <a:solidFill>
            <a:srgbClr val="1B2A4A"/>
          </a:solidFill>
          <a:ln/>
        </p:spPr>
      </p:sp>
      <p:sp>
        <p:nvSpPr>
          <p:cNvPr id="12" name="Text 9"/>
          <p:cNvSpPr/>
          <p:nvPr/>
        </p:nvSpPr>
        <p:spPr>
          <a:xfrm>
            <a:off x="4160520" y="1828800"/>
            <a:ext cx="3520440" cy="777240"/>
          </a:xfrm>
          <a:prstGeom prst="rect">
            <a:avLst/>
          </a:prstGeom>
          <a:noFill/>
          <a:ln/>
        </p:spPr>
        <p:txBody>
          <a:bodyPr wrap="square" lIns="0" tIns="0" rIns="0" bIns="0" rtlCol="0" anchor="ctr"/>
          <a:lstStyle/>
          <a:p>
            <a:pPr marL="0" indent="0" algn="ctr">
              <a:buNone/>
            </a:pPr>
            <a:r>
              <a:rPr lang="en-US" sz="4200" b="1" dirty="0">
                <a:solidFill>
                  <a:srgbClr val="E0954D"/>
                </a:solidFill>
                <a:latin typeface="Cambria" pitchFamily="34" charset="0"/>
                <a:ea typeface="Cambria" pitchFamily="34" charset="-122"/>
                <a:cs typeface="Cambria" pitchFamily="34" charset="-120"/>
              </a:rPr>
              <a:t>₦66.5M</a:t>
            </a:r>
            <a:endParaRPr lang="en-US" sz="4200" dirty="0"/>
          </a:p>
        </p:txBody>
      </p:sp>
      <p:sp>
        <p:nvSpPr>
          <p:cNvPr id="13" name="Text 10"/>
          <p:cNvSpPr/>
          <p:nvPr/>
        </p:nvSpPr>
        <p:spPr>
          <a:xfrm>
            <a:off x="4160520" y="2670048"/>
            <a:ext cx="3520440" cy="274320"/>
          </a:xfrm>
          <a:prstGeom prst="rect">
            <a:avLst/>
          </a:prstGeom>
          <a:noFill/>
          <a:ln/>
        </p:spPr>
        <p:txBody>
          <a:bodyPr wrap="square" lIns="0" tIns="0" rIns="0" bIns="0" rtlCol="0" anchor="ctr"/>
          <a:lstStyle/>
          <a:p>
            <a:pPr marL="0" indent="0" algn="ctr">
              <a:buNone/>
            </a:pPr>
            <a:r>
              <a:rPr lang="en-GB" sz="1200" b="1" kern="0" spc="100" dirty="0">
                <a:solidFill>
                  <a:srgbClr val="E0954D"/>
                </a:solidFill>
                <a:latin typeface="Calibri" pitchFamily="34" charset="0"/>
                <a:ea typeface="Calibri" pitchFamily="34" charset="-122"/>
                <a:cs typeface="Calibri" pitchFamily="34" charset="-120"/>
              </a:rPr>
              <a:t>P</a:t>
            </a:r>
            <a:r>
              <a:rPr lang="en-US" sz="1200" b="1" kern="0" spc="100" dirty="0">
                <a:solidFill>
                  <a:srgbClr val="E0954D"/>
                </a:solidFill>
                <a:latin typeface="Calibri" pitchFamily="34" charset="0"/>
                <a:ea typeface="Calibri" pitchFamily="34" charset="-122"/>
                <a:cs typeface="Calibri" pitchFamily="34" charset="-120"/>
              </a:rPr>
              <a:t>OTENTIAL REVENUE TO BE COLLECTED</a:t>
            </a:r>
            <a:endParaRPr lang="en-US" sz="1200" dirty="0"/>
          </a:p>
        </p:txBody>
      </p:sp>
      <p:sp>
        <p:nvSpPr>
          <p:cNvPr id="14" name="Text 11"/>
          <p:cNvSpPr/>
          <p:nvPr/>
        </p:nvSpPr>
        <p:spPr>
          <a:xfrm>
            <a:off x="4160520" y="2971800"/>
            <a:ext cx="3520440" cy="274320"/>
          </a:xfrm>
          <a:prstGeom prst="rect">
            <a:avLst/>
          </a:prstGeom>
          <a:noFill/>
          <a:ln/>
        </p:spPr>
        <p:txBody>
          <a:bodyPr wrap="square" lIns="0" tIns="0" rIns="0" bIns="0" rtlCol="0" anchor="ctr"/>
          <a:lstStyle/>
          <a:p>
            <a:pPr marL="0" indent="0" algn="ctr">
              <a:buNone/>
            </a:pPr>
            <a:r>
              <a:rPr lang="en-US" sz="1100" i="1" dirty="0">
                <a:solidFill>
                  <a:srgbClr val="9AA7BD"/>
                </a:solidFill>
                <a:latin typeface="Calibri" pitchFamily="34" charset="0"/>
                <a:ea typeface="Calibri" pitchFamily="34" charset="-122"/>
                <a:cs typeface="Calibri" pitchFamily="34" charset="-120"/>
              </a:rPr>
              <a:t>₦66,554,296 outstanding</a:t>
            </a:r>
            <a:endParaRPr lang="en-US" sz="1100" dirty="0"/>
          </a:p>
        </p:txBody>
      </p:sp>
      <p:sp>
        <p:nvSpPr>
          <p:cNvPr id="15" name="Shape 12"/>
          <p:cNvSpPr/>
          <p:nvPr/>
        </p:nvSpPr>
        <p:spPr>
          <a:xfrm>
            <a:off x="7818120" y="1691640"/>
            <a:ext cx="3886200" cy="1691640"/>
          </a:xfrm>
          <a:prstGeom prst="roundRect">
            <a:avLst>
              <a:gd name="adj" fmla="val 4324"/>
            </a:avLst>
          </a:prstGeom>
          <a:solidFill>
            <a:srgbClr val="1B2A4A"/>
          </a:solidFill>
          <a:ln/>
        </p:spPr>
      </p:sp>
      <p:sp>
        <p:nvSpPr>
          <p:cNvPr id="16" name="Text 13"/>
          <p:cNvSpPr/>
          <p:nvPr/>
        </p:nvSpPr>
        <p:spPr>
          <a:xfrm>
            <a:off x="7818120" y="1828800"/>
            <a:ext cx="3886200" cy="77724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40</a:t>
            </a:r>
            <a:endParaRPr lang="en-US" sz="4600" dirty="0"/>
          </a:p>
        </p:txBody>
      </p:sp>
      <p:sp>
        <p:nvSpPr>
          <p:cNvPr id="17" name="Text 14"/>
          <p:cNvSpPr/>
          <p:nvPr/>
        </p:nvSpPr>
        <p:spPr>
          <a:xfrm>
            <a:off x="7818120" y="2670048"/>
            <a:ext cx="3886200" cy="274320"/>
          </a:xfrm>
          <a:prstGeom prst="rect">
            <a:avLst/>
          </a:prstGeom>
          <a:noFill/>
          <a:ln/>
        </p:spPr>
        <p:txBody>
          <a:bodyPr wrap="square" lIns="0" tIns="0" rIns="0" bIns="0" rtlCol="0" anchor="ctr"/>
          <a:lstStyle/>
          <a:p>
            <a:pPr marL="0" indent="0" algn="ctr">
              <a:buNone/>
            </a:pPr>
            <a:r>
              <a:rPr lang="en-US" sz="1200" b="1" kern="0" spc="100" dirty="0">
                <a:solidFill>
                  <a:srgbClr val="E0954D"/>
                </a:solidFill>
                <a:latin typeface="Calibri" pitchFamily="34" charset="0"/>
                <a:ea typeface="Calibri" pitchFamily="34" charset="-122"/>
                <a:cs typeface="Calibri" pitchFamily="34" charset="-120"/>
              </a:rPr>
              <a:t>UNPAID SHIPMENTS - TOP CUSTOMER</a:t>
            </a:r>
            <a:endParaRPr lang="en-US" sz="1200" dirty="0"/>
          </a:p>
        </p:txBody>
      </p:sp>
      <p:sp>
        <p:nvSpPr>
          <p:cNvPr id="18" name="Text 15"/>
          <p:cNvSpPr/>
          <p:nvPr/>
        </p:nvSpPr>
        <p:spPr>
          <a:xfrm>
            <a:off x="7818120" y="2971800"/>
            <a:ext cx="3886200" cy="274320"/>
          </a:xfrm>
          <a:prstGeom prst="rect">
            <a:avLst/>
          </a:prstGeom>
          <a:noFill/>
          <a:ln/>
        </p:spPr>
        <p:txBody>
          <a:bodyPr wrap="square" lIns="0" tIns="0" rIns="0" bIns="0" rtlCol="0" anchor="ctr"/>
          <a:lstStyle/>
          <a:p>
            <a:pPr marL="0" indent="0" algn="ctr">
              <a:buNone/>
            </a:pPr>
            <a:r>
              <a:rPr lang="en-US" sz="1100" i="1" dirty="0">
                <a:solidFill>
                  <a:srgbClr val="9AA7BD"/>
                </a:solidFill>
                <a:latin typeface="Calibri" pitchFamily="34" charset="0"/>
                <a:ea typeface="Calibri" pitchFamily="34" charset="-122"/>
                <a:cs typeface="Calibri" pitchFamily="34" charset="-120"/>
              </a:rPr>
              <a:t>Hannah Taylor — highest unpaid count</a:t>
            </a:r>
            <a:endParaRPr lang="en-US" sz="1100" dirty="0"/>
          </a:p>
        </p:txBody>
      </p:sp>
      <p:sp>
        <p:nvSpPr>
          <p:cNvPr id="19" name="Text 16"/>
          <p:cNvSpPr/>
          <p:nvPr/>
        </p:nvSpPr>
        <p:spPr>
          <a:xfrm>
            <a:off x="502920" y="3657600"/>
            <a:ext cx="5029200" cy="292608"/>
          </a:xfrm>
          <a:prstGeom prst="rect">
            <a:avLst/>
          </a:prstGeom>
          <a:noFill/>
          <a:ln/>
        </p:spPr>
        <p:txBody>
          <a:bodyPr wrap="square" lIns="0" tIns="0" rIns="0" bIns="0" rtlCol="0" anchor="ctr"/>
          <a:lstStyle/>
          <a:p>
            <a:pPr marL="0" indent="0">
              <a:buNone/>
            </a:pPr>
            <a:r>
              <a:rPr lang="en-US" sz="1300" b="1" kern="0" spc="150" dirty="0">
                <a:solidFill>
                  <a:srgbClr val="FFFFFF"/>
                </a:solidFill>
                <a:latin typeface="Calibri" pitchFamily="34" charset="0"/>
                <a:ea typeface="Calibri" pitchFamily="34" charset="-122"/>
                <a:cs typeface="Calibri" pitchFamily="34" charset="-120"/>
              </a:rPr>
              <a:t>TOP CUSTOMERS BY NUMBER OF UNPAID SHIPMENTS</a:t>
            </a:r>
            <a:endParaRPr lang="en-US" sz="1300" dirty="0"/>
          </a:p>
        </p:txBody>
      </p:sp>
      <p:graphicFrame>
        <p:nvGraphicFramePr>
          <p:cNvPr id="20" name="Chart 0"/>
          <p:cNvGraphicFramePr/>
          <p:nvPr/>
        </p:nvGraphicFramePr>
        <p:xfrm>
          <a:off x="411480" y="3977640"/>
          <a:ext cx="521208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p:nvPr/>
        </p:nvSpPr>
        <p:spPr>
          <a:xfrm>
            <a:off x="5989320" y="3657600"/>
            <a:ext cx="5669280" cy="292608"/>
          </a:xfrm>
          <a:prstGeom prst="rect">
            <a:avLst/>
          </a:prstGeom>
          <a:noFill/>
          <a:ln/>
        </p:spPr>
        <p:txBody>
          <a:bodyPr wrap="square" lIns="0" tIns="0" rIns="0" bIns="0" rtlCol="0" anchor="ctr"/>
          <a:lstStyle/>
          <a:p>
            <a:pPr marL="0" indent="0">
              <a:buNone/>
            </a:pPr>
            <a:r>
              <a:rPr lang="en-US" sz="1300" b="1" kern="0" spc="150" dirty="0">
                <a:solidFill>
                  <a:srgbClr val="E0954D"/>
                </a:solidFill>
                <a:latin typeface="Calibri" pitchFamily="34" charset="0"/>
                <a:ea typeface="Calibri" pitchFamily="34" charset="-122"/>
                <a:cs typeface="Calibri" pitchFamily="34" charset="-120"/>
              </a:rPr>
              <a:t>KEY FINDINGS</a:t>
            </a:r>
            <a:endParaRPr lang="en-US" sz="1300" dirty="0"/>
          </a:p>
        </p:txBody>
      </p:sp>
      <p:sp>
        <p:nvSpPr>
          <p:cNvPr id="22" name="Text 18"/>
          <p:cNvSpPr/>
          <p:nvPr/>
        </p:nvSpPr>
        <p:spPr>
          <a:xfrm>
            <a:off x="5989320" y="3977640"/>
            <a:ext cx="5669280" cy="146304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300" dirty="0">
                <a:solidFill>
                  <a:srgbClr val="DCE4F2"/>
                </a:solidFill>
                <a:latin typeface="Calibri" pitchFamily="34" charset="0"/>
                <a:ea typeface="Calibri" pitchFamily="34" charset="-122"/>
                <a:cs typeface="Calibri" pitchFamily="34" charset="-120"/>
              </a:rPr>
              <a:t>Exactly 50% of shipments (500/1,000) are unpaid — a cash flow emergency.</a:t>
            </a:r>
            <a:endParaRPr lang="en-US" sz="1300" dirty="0"/>
          </a:p>
          <a:p>
            <a:pPr marL="342900" indent="-342900">
              <a:lnSpc>
                <a:spcPct val="115000"/>
              </a:lnSpc>
              <a:spcAft>
                <a:spcPts val="600"/>
              </a:spcAft>
              <a:buSzPct val="100000"/>
              <a:buChar char="•"/>
            </a:pPr>
            <a:r>
              <a:rPr lang="en-US" sz="1300" dirty="0">
                <a:solidFill>
                  <a:srgbClr val="DCE4F2"/>
                </a:solidFill>
                <a:latin typeface="Calibri" pitchFamily="34" charset="0"/>
                <a:ea typeface="Calibri" pitchFamily="34" charset="-122"/>
                <a:cs typeface="Calibri" pitchFamily="34" charset="-120"/>
              </a:rPr>
              <a:t>Total unpaid value of ₦66.5M is more than half of total revenue.</a:t>
            </a:r>
            <a:endParaRPr lang="en-US" sz="1300" dirty="0"/>
          </a:p>
          <a:p>
            <a:pPr marL="342900" indent="-342900">
              <a:lnSpc>
                <a:spcPct val="115000"/>
              </a:lnSpc>
              <a:spcAft>
                <a:spcPts val="600"/>
              </a:spcAft>
              <a:buSzPct val="100000"/>
              <a:buChar char="•"/>
            </a:pPr>
            <a:r>
              <a:rPr lang="en-US" sz="1300" dirty="0">
                <a:solidFill>
                  <a:srgbClr val="DCE4F2"/>
                </a:solidFill>
                <a:latin typeface="Calibri" pitchFamily="34" charset="0"/>
                <a:ea typeface="Calibri" pitchFamily="34" charset="-122"/>
                <a:cs typeface="Calibri" pitchFamily="34" charset="-120"/>
              </a:rPr>
              <a:t>Hannah Taylor (40), Paul Harris (39) and Esther Clark (38) top the list of repeat non-payers.</a:t>
            </a:r>
          </a:p>
          <a:p>
            <a:pPr marL="342900" indent="-342900">
              <a:lnSpc>
                <a:spcPct val="115000"/>
              </a:lnSpc>
              <a:spcAft>
                <a:spcPts val="600"/>
              </a:spcAft>
              <a:buSzPct val="100000"/>
              <a:buChar char="•"/>
            </a:pPr>
            <a:r>
              <a:rPr lang="en-US" sz="1300" dirty="0">
                <a:solidFill>
                  <a:srgbClr val="DCE4F2"/>
                </a:solidFill>
                <a:latin typeface="Calibri" pitchFamily="34" charset="0"/>
                <a:ea typeface="Calibri" pitchFamily="34" charset="-122"/>
                <a:cs typeface="Calibri" pitchFamily="34" charset="-120"/>
              </a:rPr>
              <a:t>Potential amount Paid is  ₦66,341,553. That is 49.92% vs 50.08%</a:t>
            </a:r>
          </a:p>
          <a:p>
            <a:pPr marL="342900" indent="-342900">
              <a:lnSpc>
                <a:spcPct val="115000"/>
              </a:lnSpc>
              <a:spcAft>
                <a:spcPts val="600"/>
              </a:spcAft>
              <a:buSzPct val="100000"/>
              <a:buChar char="•"/>
            </a:pPr>
            <a:endParaRPr lang="en-US" sz="1300" dirty="0"/>
          </a:p>
        </p:txBody>
      </p:sp>
      <p:sp>
        <p:nvSpPr>
          <p:cNvPr id="23" name="Text 19"/>
          <p:cNvSpPr/>
          <p:nvPr/>
        </p:nvSpPr>
        <p:spPr>
          <a:xfrm>
            <a:off x="5989320" y="5349240"/>
            <a:ext cx="5669280" cy="292608"/>
          </a:xfrm>
          <a:prstGeom prst="rect">
            <a:avLst/>
          </a:prstGeom>
          <a:noFill/>
          <a:ln/>
        </p:spPr>
        <p:txBody>
          <a:bodyPr wrap="square" lIns="0" tIns="0" rIns="0" bIns="0" rtlCol="0" anchor="ctr"/>
          <a:lstStyle/>
          <a:p>
            <a:pPr marL="0" indent="0">
              <a:buNone/>
            </a:pPr>
            <a:r>
              <a:rPr lang="en-US" sz="1300" b="1" kern="0" spc="150" dirty="0">
                <a:solidFill>
                  <a:srgbClr val="3E8E5A"/>
                </a:solidFill>
                <a:latin typeface="Calibri" pitchFamily="34" charset="0"/>
                <a:ea typeface="Calibri" pitchFamily="34" charset="-122"/>
                <a:cs typeface="Calibri" pitchFamily="34" charset="-120"/>
              </a:rPr>
              <a:t>RECOMMENDATIONS</a:t>
            </a:r>
            <a:endParaRPr lang="en-US" sz="1300" dirty="0"/>
          </a:p>
        </p:txBody>
      </p:sp>
      <p:sp>
        <p:nvSpPr>
          <p:cNvPr id="24" name="Text 20"/>
          <p:cNvSpPr/>
          <p:nvPr/>
        </p:nvSpPr>
        <p:spPr>
          <a:xfrm>
            <a:off x="5989320" y="5669280"/>
            <a:ext cx="5669280" cy="109728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300" dirty="0">
                <a:solidFill>
                  <a:srgbClr val="DCE4F2"/>
                </a:solidFill>
                <a:latin typeface="Calibri" pitchFamily="34" charset="0"/>
                <a:ea typeface="Calibri" pitchFamily="34" charset="-122"/>
                <a:cs typeface="Calibri" pitchFamily="34" charset="-120"/>
              </a:rPr>
              <a:t>Launch an immediate debt recovery campaign for the top 10 unpaid customers.</a:t>
            </a:r>
            <a:endParaRPr lang="en-US" sz="1300" dirty="0"/>
          </a:p>
          <a:p>
            <a:pPr marL="342900" indent="-342900">
              <a:lnSpc>
                <a:spcPct val="115000"/>
              </a:lnSpc>
              <a:spcAft>
                <a:spcPts val="600"/>
              </a:spcAft>
              <a:buSzPct val="100000"/>
              <a:buChar char="•"/>
            </a:pPr>
            <a:r>
              <a:rPr lang="en-US" sz="1300" dirty="0">
                <a:solidFill>
                  <a:srgbClr val="DCE4F2"/>
                </a:solidFill>
                <a:latin typeface="Calibri" pitchFamily="34" charset="0"/>
                <a:ea typeface="Calibri" pitchFamily="34" charset="-122"/>
                <a:cs typeface="Calibri" pitchFamily="34" charset="-120"/>
              </a:rPr>
              <a:t>Enforce payment-before-shipment for customers with 3+ unpaid invoices.</a:t>
            </a:r>
            <a:endParaRPr lang="en-US" sz="1300" dirty="0"/>
          </a:p>
          <a:p>
            <a:pPr marL="342900" indent="-342900">
              <a:lnSpc>
                <a:spcPct val="115000"/>
              </a:lnSpc>
              <a:spcAft>
                <a:spcPts val="600"/>
              </a:spcAft>
              <a:buSzPct val="100000"/>
              <a:buChar char="•"/>
            </a:pPr>
            <a:r>
              <a:rPr lang="en-US" sz="1300" dirty="0">
                <a:solidFill>
                  <a:srgbClr val="DCE4F2"/>
                </a:solidFill>
                <a:latin typeface="Calibri" pitchFamily="34" charset="0"/>
                <a:ea typeface="Calibri" pitchFamily="34" charset="-122"/>
                <a:cs typeface="Calibri" pitchFamily="34" charset="-120"/>
              </a:rPr>
              <a:t>Introduce a 30-day payment deadline with automatic credit hold.</a:t>
            </a:r>
            <a:endParaRPr lang="en-US" sz="1300" dirty="0"/>
          </a:p>
        </p:txBody>
      </p:sp>
      <p:sp>
        <p:nvSpPr>
          <p:cNvPr id="25" name="Text 21"/>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11</a:t>
            </a:r>
            <a:endParaRPr lang="en-US" sz="1000" dirty="0"/>
          </a:p>
        </p:txBody>
      </p:sp>
      <p:sp>
        <p:nvSpPr>
          <p:cNvPr id="26" name="Text 22"/>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8778240" y="-2560320"/>
            <a:ext cx="5486400" cy="5486400"/>
          </a:xfrm>
          <a:prstGeom prst="ellipse">
            <a:avLst/>
          </a:prstGeom>
          <a:solidFill>
            <a:srgbClr val="1B2A4A">
              <a:alpha val="60000"/>
            </a:srgbClr>
          </a:solidFill>
          <a:ln/>
        </p:spPr>
      </p:sp>
      <p:sp>
        <p:nvSpPr>
          <p:cNvPr id="3" name="Shape 1"/>
          <p:cNvSpPr/>
          <p:nvPr/>
        </p:nvSpPr>
        <p:spPr>
          <a:xfrm>
            <a:off x="-2286000" y="4114800"/>
            <a:ext cx="5029200" cy="5029200"/>
          </a:xfrm>
          <a:prstGeom prst="ellipse">
            <a:avLst/>
          </a:prstGeom>
          <a:solidFill>
            <a:srgbClr val="3D5A80">
              <a:alpha val="35000"/>
            </a:srgbClr>
          </a:solidFill>
          <a:ln/>
        </p:spPr>
      </p:sp>
      <p:sp>
        <p:nvSpPr>
          <p:cNvPr id="4" name="Text 2"/>
          <p:cNvSpPr/>
          <p:nvPr/>
        </p:nvSpPr>
        <p:spPr>
          <a:xfrm>
            <a:off x="8778240" y="320040"/>
            <a:ext cx="2926080" cy="2926080"/>
          </a:xfrm>
          <a:prstGeom prst="rect">
            <a:avLst/>
          </a:prstGeom>
          <a:noFill/>
          <a:ln/>
        </p:spPr>
        <p:txBody>
          <a:bodyPr wrap="square" lIns="0" tIns="0" rIns="0" bIns="0" rtlCol="0" anchor="ctr"/>
          <a:lstStyle/>
          <a:p>
            <a:pPr marL="0" indent="0" algn="ctr">
              <a:buNone/>
            </a:pPr>
            <a:r>
              <a:rPr lang="en-US" sz="18000" b="1" dirty="0">
                <a:solidFill>
                  <a:srgbClr val="1B2A4A"/>
                </a:solidFill>
                <a:latin typeface="Cambria" pitchFamily="34" charset="0"/>
                <a:ea typeface="Cambria" pitchFamily="34" charset="-122"/>
                <a:cs typeface="Cambria" pitchFamily="34" charset="-120"/>
              </a:rPr>
              <a:t>5</a:t>
            </a:r>
            <a:endParaRPr lang="en-US" sz="18000" dirty="0"/>
          </a:p>
        </p:txBody>
      </p:sp>
      <p:sp>
        <p:nvSpPr>
          <p:cNvPr id="5" name="Shape 3"/>
          <p:cNvSpPr/>
          <p:nvPr/>
        </p:nvSpPr>
        <p:spPr>
          <a:xfrm>
            <a:off x="822960" y="685800"/>
            <a:ext cx="822960" cy="822960"/>
          </a:xfrm>
          <a:prstGeom prst="ellipse">
            <a:avLst/>
          </a:prstGeom>
          <a:solidFill>
            <a:srgbClr val="E0954D"/>
          </a:solidFill>
          <a:ln/>
        </p:spPr>
      </p:sp>
      <p:pic>
        <p:nvPicPr>
          <p:cNvPr id="6" name="Image 0" descr="preencoded.png"/>
          <p:cNvPicPr>
            <a:picLocks noChangeAspect="1"/>
          </p:cNvPicPr>
          <p:nvPr/>
        </p:nvPicPr>
        <p:blipFill>
          <a:blip r:embed="rId3"/>
          <a:stretch>
            <a:fillRect/>
          </a:stretch>
        </p:blipFill>
        <p:spPr>
          <a:xfrm>
            <a:off x="1033272" y="896112"/>
            <a:ext cx="402336" cy="402336"/>
          </a:xfrm>
          <a:prstGeom prst="rect">
            <a:avLst/>
          </a:prstGeom>
        </p:spPr>
      </p:pic>
      <p:sp>
        <p:nvSpPr>
          <p:cNvPr id="7" name="Text 4"/>
          <p:cNvSpPr/>
          <p:nvPr/>
        </p:nvSpPr>
        <p:spPr>
          <a:xfrm>
            <a:off x="1783080" y="713232"/>
            <a:ext cx="5486400" cy="320040"/>
          </a:xfrm>
          <a:prstGeom prst="rect">
            <a:avLst/>
          </a:prstGeom>
          <a:noFill/>
          <a:ln/>
        </p:spPr>
        <p:txBody>
          <a:bodyPr wrap="square" lIns="0" tIns="0" rIns="0" bIns="0" rtlCol="0" anchor="ctr"/>
          <a:lstStyle/>
          <a:p>
            <a:pPr marL="0" indent="0">
              <a:buNone/>
            </a:pPr>
            <a:r>
              <a:rPr lang="en-US" sz="1400" b="1" kern="0" spc="300" dirty="0">
                <a:solidFill>
                  <a:srgbClr val="E0954D"/>
                </a:solidFill>
                <a:latin typeface="Calibri" pitchFamily="34" charset="0"/>
                <a:ea typeface="Calibri" pitchFamily="34" charset="-122"/>
                <a:cs typeface="Calibri" pitchFamily="34" charset="-120"/>
              </a:rPr>
              <a:t>DASHBOARD 5</a:t>
            </a:r>
            <a:endParaRPr lang="en-US" sz="1400" dirty="0"/>
          </a:p>
        </p:txBody>
      </p:sp>
      <p:sp>
        <p:nvSpPr>
          <p:cNvPr id="8" name="Text 5"/>
          <p:cNvSpPr/>
          <p:nvPr/>
        </p:nvSpPr>
        <p:spPr>
          <a:xfrm>
            <a:off x="1783080" y="1024128"/>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Priority Shipment Analysis</a:t>
            </a:r>
            <a:endParaRPr lang="en-US" sz="3200" dirty="0"/>
          </a:p>
        </p:txBody>
      </p:sp>
      <p:sp>
        <p:nvSpPr>
          <p:cNvPr id="9" name="Text 6"/>
          <p:cNvSpPr/>
          <p:nvPr/>
        </p:nvSpPr>
        <p:spPr>
          <a:xfrm>
            <a:off x="822960" y="2331720"/>
            <a:ext cx="5486400" cy="320040"/>
          </a:xfrm>
          <a:prstGeom prst="rect">
            <a:avLst/>
          </a:prstGeom>
          <a:noFill/>
          <a:ln/>
        </p:spPr>
        <p:txBody>
          <a:bodyPr wrap="square" lIns="0" tIns="0" rIns="0" bIns="0" rtlCol="0" anchor="ctr"/>
          <a:lstStyle/>
          <a:p>
            <a:pPr marL="0" indent="0">
              <a:buNone/>
            </a:pPr>
            <a:r>
              <a:rPr lang="en-US" sz="1200" b="1" kern="0" spc="250" dirty="0">
                <a:solidFill>
                  <a:srgbClr val="7E93B8"/>
                </a:solidFill>
                <a:latin typeface="Calibri" pitchFamily="34" charset="0"/>
                <a:ea typeface="Calibri" pitchFamily="34" charset="-122"/>
                <a:cs typeface="Calibri" pitchFamily="34" charset="-120"/>
              </a:rPr>
              <a:t>THE STORY SO FAR</a:t>
            </a:r>
            <a:endParaRPr lang="en-US" sz="1200" dirty="0"/>
          </a:p>
        </p:txBody>
      </p:sp>
      <p:sp>
        <p:nvSpPr>
          <p:cNvPr id="10" name="Text 7"/>
          <p:cNvSpPr/>
          <p:nvPr/>
        </p:nvSpPr>
        <p:spPr>
          <a:xfrm>
            <a:off x="822960" y="2697480"/>
            <a:ext cx="8778240" cy="1828800"/>
          </a:xfrm>
          <a:prstGeom prst="rect">
            <a:avLst/>
          </a:prstGeom>
          <a:noFill/>
          <a:ln/>
        </p:spPr>
        <p:txBody>
          <a:bodyPr wrap="square" lIns="0" tIns="0" rIns="0" bIns="0" rtlCol="0" anchor="ctr"/>
          <a:lstStyle/>
          <a:p>
            <a:pPr marL="0" indent="0">
              <a:lnSpc>
                <a:spcPct val="135000"/>
              </a:lnSpc>
              <a:buNone/>
            </a:pPr>
            <a:r>
              <a:rPr lang="en-US" sz="1800" dirty="0">
                <a:solidFill>
                  <a:srgbClr val="DCE4F2"/>
                </a:solidFill>
                <a:latin typeface="Cambria" pitchFamily="34" charset="0"/>
                <a:ea typeface="Cambria" pitchFamily="34" charset="-122"/>
                <a:cs typeface="Cambria" pitchFamily="34" charset="-120"/>
              </a:rPr>
              <a:t>Some shipments are marked 'High Priority' — a label that tells our customers to expect faster, more reliable handling. This final dashboard puts that promise to the test, comparing how High, Medium and Low priority shipments actually perform once they leave our warehouses, and identifying which transport mode gives our most important shipments the best chance of arriving on time.</a:t>
            </a:r>
            <a:endParaRPr lang="en-US" sz="1800" dirty="0"/>
          </a:p>
        </p:txBody>
      </p:sp>
      <p:sp>
        <p:nvSpPr>
          <p:cNvPr id="11" name="Shape 8"/>
          <p:cNvSpPr/>
          <p:nvPr/>
        </p:nvSpPr>
        <p:spPr>
          <a:xfrm>
            <a:off x="822960" y="4800600"/>
            <a:ext cx="10561320" cy="1234440"/>
          </a:xfrm>
          <a:prstGeom prst="roundRect">
            <a:avLst>
              <a:gd name="adj" fmla="val 5926"/>
            </a:avLst>
          </a:prstGeom>
          <a:solidFill>
            <a:srgbClr val="1B2A4A"/>
          </a:solidFill>
          <a:ln w="12700">
            <a:solidFill>
              <a:srgbClr val="E0954D"/>
            </a:solidFill>
            <a:prstDash val="solid"/>
          </a:ln>
        </p:spPr>
      </p:sp>
      <p:sp>
        <p:nvSpPr>
          <p:cNvPr id="12" name="Text 9"/>
          <p:cNvSpPr/>
          <p:nvPr/>
        </p:nvSpPr>
        <p:spPr>
          <a:xfrm>
            <a:off x="1097280" y="4983480"/>
            <a:ext cx="10058400" cy="320040"/>
          </a:xfrm>
          <a:prstGeom prst="rect">
            <a:avLst/>
          </a:prstGeom>
          <a:noFill/>
          <a:ln/>
        </p:spPr>
        <p:txBody>
          <a:bodyPr wrap="square" lIns="0" tIns="0" rIns="0" bIns="0" rtlCol="0" anchor="ctr"/>
          <a:lstStyle/>
          <a:p>
            <a:pPr marL="0" indent="0">
              <a:buNone/>
            </a:pPr>
            <a:r>
              <a:rPr lang="en-US" sz="1200" b="1" kern="0" spc="200" dirty="0">
                <a:solidFill>
                  <a:srgbClr val="E0954D"/>
                </a:solidFill>
                <a:latin typeface="Calibri" pitchFamily="34" charset="0"/>
                <a:ea typeface="Calibri" pitchFamily="34" charset="-122"/>
                <a:cs typeface="Calibri" pitchFamily="34" charset="-120"/>
              </a:rPr>
              <a:t>THE QUESTION THIS DASHBOARD ANSWERS</a:t>
            </a:r>
            <a:endParaRPr lang="en-US" sz="1200" dirty="0"/>
          </a:p>
        </p:txBody>
      </p:sp>
      <p:sp>
        <p:nvSpPr>
          <p:cNvPr id="13" name="Text 10"/>
          <p:cNvSpPr/>
          <p:nvPr/>
        </p:nvSpPr>
        <p:spPr>
          <a:xfrm>
            <a:off x="1097280" y="5303520"/>
            <a:ext cx="10058400" cy="640080"/>
          </a:xfrm>
          <a:prstGeom prst="rect">
            <a:avLst/>
          </a:prstGeom>
          <a:noFill/>
          <a:ln/>
        </p:spPr>
        <p:txBody>
          <a:bodyPr wrap="square" lIns="0" tIns="0" rIns="0" bIns="0" rtlCol="0" anchor="ctr"/>
          <a:lstStyle/>
          <a:p>
            <a:pPr marL="0" indent="0">
              <a:buNone/>
            </a:pPr>
            <a:r>
              <a:rPr lang="en-US" sz="1900" b="1" i="1" dirty="0">
                <a:solidFill>
                  <a:srgbClr val="FFFFFF"/>
                </a:solidFill>
                <a:latin typeface="Cambria" pitchFamily="34" charset="0"/>
                <a:ea typeface="Cambria" pitchFamily="34" charset="-122"/>
                <a:cs typeface="Cambria" pitchFamily="34" charset="-120"/>
              </a:rPr>
              <a:t>Are 'High Priority' shipments actually receiving the faster, more reliable treatment customers expect?</a:t>
            </a:r>
            <a:endParaRPr lang="en-US" sz="1900" dirty="0"/>
          </a:p>
        </p:txBody>
      </p:sp>
      <p:sp>
        <p:nvSpPr>
          <p:cNvPr id="14" name="Text 11"/>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12</a:t>
            </a:r>
            <a:endParaRPr lang="en-US" sz="1000" dirty="0"/>
          </a:p>
        </p:txBody>
      </p:sp>
      <p:sp>
        <p:nvSpPr>
          <p:cNvPr id="15" name="Text 12"/>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11480"/>
            <a:ext cx="640080" cy="640080"/>
          </a:xfrm>
          <a:prstGeom prst="ellipse">
            <a:avLst/>
          </a:prstGeom>
          <a:solidFill>
            <a:srgbClr val="1B2A4A"/>
          </a:solidFill>
          <a:ln/>
        </p:spPr>
      </p:sp>
      <p:pic>
        <p:nvPicPr>
          <p:cNvPr id="3" name="Image 0" descr="preencoded.png"/>
          <p:cNvPicPr>
            <a:picLocks noChangeAspect="1"/>
          </p:cNvPicPr>
          <p:nvPr/>
        </p:nvPicPr>
        <p:blipFill>
          <a:blip r:embed="rId3"/>
          <a:stretch>
            <a:fillRect/>
          </a:stretch>
        </p:blipFill>
        <p:spPr>
          <a:xfrm>
            <a:off x="658368" y="566928"/>
            <a:ext cx="329184" cy="329184"/>
          </a:xfrm>
          <a:prstGeom prst="rect">
            <a:avLst/>
          </a:prstGeom>
        </p:spPr>
      </p:pic>
      <p:sp>
        <p:nvSpPr>
          <p:cNvPr id="4" name="Text 1"/>
          <p:cNvSpPr/>
          <p:nvPr/>
        </p:nvSpPr>
        <p:spPr>
          <a:xfrm>
            <a:off x="1280160" y="384048"/>
            <a:ext cx="3657600" cy="27432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DASHBOARD 5</a:t>
            </a:r>
            <a:endParaRPr lang="en-US" sz="1300" dirty="0"/>
          </a:p>
        </p:txBody>
      </p:sp>
      <p:sp>
        <p:nvSpPr>
          <p:cNvPr id="5" name="Text 2"/>
          <p:cNvSpPr/>
          <p:nvPr/>
        </p:nvSpPr>
        <p:spPr>
          <a:xfrm>
            <a:off x="1280160" y="621792"/>
            <a:ext cx="8229600" cy="50292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Priority Shipment Analysis</a:t>
            </a:r>
            <a:endParaRPr lang="en-US" sz="2800" dirty="0"/>
          </a:p>
        </p:txBody>
      </p:sp>
      <p:sp>
        <p:nvSpPr>
          <p:cNvPr id="6" name="Text 3"/>
          <p:cNvSpPr/>
          <p:nvPr/>
        </p:nvSpPr>
        <p:spPr>
          <a:xfrm>
            <a:off x="1280160" y="1115568"/>
            <a:ext cx="10058400" cy="320040"/>
          </a:xfrm>
          <a:prstGeom prst="rect">
            <a:avLst/>
          </a:prstGeom>
          <a:noFill/>
          <a:ln/>
        </p:spPr>
        <p:txBody>
          <a:bodyPr wrap="square" lIns="0" tIns="0" rIns="0" bIns="0" rtlCol="0" anchor="ctr"/>
          <a:lstStyle/>
          <a:p>
            <a:pPr marL="0" indent="0">
              <a:buNone/>
            </a:pPr>
            <a:r>
              <a:rPr lang="en-US" sz="1300" i="1" dirty="0">
                <a:solidFill>
                  <a:srgbClr val="5B6B82"/>
                </a:solidFill>
                <a:latin typeface="Calibri" pitchFamily="34" charset="0"/>
                <a:ea typeface="Calibri" pitchFamily="34" charset="-122"/>
                <a:cs typeface="Calibri" pitchFamily="34" charset="-120"/>
              </a:rPr>
              <a:t>Are 'High Priority' shipments actually treated as a priority?</a:t>
            </a:r>
            <a:endParaRPr lang="en-US" sz="1300" dirty="0"/>
          </a:p>
        </p:txBody>
      </p:sp>
      <p:sp>
        <p:nvSpPr>
          <p:cNvPr id="7" name="Text 4"/>
          <p:cNvSpPr/>
          <p:nvPr/>
        </p:nvSpPr>
        <p:spPr>
          <a:xfrm>
            <a:off x="502920" y="1691640"/>
            <a:ext cx="393192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AVG. DELIVERY DAYS BY PRIORITY LEVEL</a:t>
            </a:r>
            <a:endParaRPr lang="en-US" sz="1300" dirty="0"/>
          </a:p>
        </p:txBody>
      </p:sp>
      <p:graphicFrame>
        <p:nvGraphicFramePr>
          <p:cNvPr id="8" name="Chart 0"/>
          <p:cNvGraphicFramePr/>
          <p:nvPr>
            <p:extLst>
              <p:ext uri="{D42A27DB-BD31-4B8C-83A1-F6EECF244321}">
                <p14:modId xmlns:p14="http://schemas.microsoft.com/office/powerpoint/2010/main" val="1743611143"/>
              </p:ext>
            </p:extLst>
          </p:nvPr>
        </p:nvGraphicFramePr>
        <p:xfrm>
          <a:off x="411480" y="2011680"/>
          <a:ext cx="411480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02920" y="4526280"/>
            <a:ext cx="4023360" cy="1463040"/>
          </a:xfrm>
          <a:prstGeom prst="roundRect">
            <a:avLst>
              <a:gd name="adj" fmla="val 3750"/>
            </a:avLst>
          </a:prstGeom>
          <a:solidFill>
            <a:srgbClr val="C0392B">
              <a:alpha val="12000"/>
            </a:srgbClr>
          </a:solidFill>
          <a:ln w="12700">
            <a:solidFill>
              <a:srgbClr val="C0392B"/>
            </a:solidFill>
            <a:prstDash val="solid"/>
          </a:ln>
        </p:spPr>
      </p:sp>
      <p:sp>
        <p:nvSpPr>
          <p:cNvPr id="10" name="Text 6"/>
          <p:cNvSpPr/>
          <p:nvPr/>
        </p:nvSpPr>
        <p:spPr>
          <a:xfrm>
            <a:off x="731520" y="4663440"/>
            <a:ext cx="3566160" cy="1188720"/>
          </a:xfrm>
          <a:prstGeom prst="rect">
            <a:avLst/>
          </a:prstGeom>
          <a:noFill/>
          <a:ln/>
        </p:spPr>
        <p:txBody>
          <a:bodyPr wrap="square" lIns="0" tIns="0" rIns="0" bIns="0" rtlCol="0" anchor="ctr"/>
          <a:lstStyle/>
          <a:p>
            <a:pPr marL="0" indent="0">
              <a:lnSpc>
                <a:spcPct val="120000"/>
              </a:lnSpc>
              <a:buNone/>
            </a:pPr>
            <a:r>
              <a:rPr lang="en-US" sz="1350" b="1" i="1" dirty="0">
                <a:solidFill>
                  <a:srgbClr val="C0392B"/>
                </a:solidFill>
                <a:latin typeface="Cambria" pitchFamily="34" charset="0"/>
                <a:ea typeface="Cambria" pitchFamily="34" charset="-122"/>
                <a:cs typeface="Cambria" pitchFamily="34" charset="-120"/>
              </a:rPr>
              <a:t>High-priority shipments take 4.13 days on average — SLOWER than Low-priority (3.91 days). The priority system is not working.</a:t>
            </a:r>
            <a:endParaRPr lang="en-US" sz="1350" dirty="0"/>
          </a:p>
        </p:txBody>
      </p:sp>
      <p:sp>
        <p:nvSpPr>
          <p:cNvPr id="11" name="Text 7"/>
          <p:cNvSpPr/>
          <p:nvPr/>
        </p:nvSpPr>
        <p:spPr>
          <a:xfrm>
            <a:off x="4800600" y="1691640"/>
            <a:ext cx="365760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SUCCESS RATE BY MODE (HIGH PRIORITY ONLY)</a:t>
            </a:r>
            <a:endParaRPr lang="en-US" sz="1300" dirty="0"/>
          </a:p>
        </p:txBody>
      </p:sp>
      <p:graphicFrame>
        <p:nvGraphicFramePr>
          <p:cNvPr id="12" name="Chart 1"/>
          <p:cNvGraphicFramePr/>
          <p:nvPr/>
        </p:nvGraphicFramePr>
        <p:xfrm>
          <a:off x="4709160" y="2011680"/>
          <a:ext cx="384048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3" name="Shape 8"/>
          <p:cNvSpPr/>
          <p:nvPr/>
        </p:nvSpPr>
        <p:spPr>
          <a:xfrm>
            <a:off x="4709160" y="4572000"/>
            <a:ext cx="1828800" cy="1417320"/>
          </a:xfrm>
          <a:prstGeom prst="roundRect">
            <a:avLst>
              <a:gd name="adj" fmla="val 3871"/>
            </a:avLst>
          </a:prstGeom>
          <a:solidFill>
            <a:srgbClr val="F4F7FB"/>
          </a:solidFill>
          <a:ln/>
        </p:spPr>
      </p:sp>
      <p:sp>
        <p:nvSpPr>
          <p:cNvPr id="14" name="Text 9"/>
          <p:cNvSpPr/>
          <p:nvPr/>
        </p:nvSpPr>
        <p:spPr>
          <a:xfrm>
            <a:off x="4709160" y="4709160"/>
            <a:ext cx="1828800" cy="594360"/>
          </a:xfrm>
          <a:prstGeom prst="rect">
            <a:avLst/>
          </a:prstGeom>
          <a:noFill/>
          <a:ln/>
        </p:spPr>
        <p:txBody>
          <a:bodyPr wrap="square" lIns="0" tIns="0" rIns="0" bIns="0" rtlCol="0" anchor="ctr"/>
          <a:lstStyle/>
          <a:p>
            <a:pPr marL="0" indent="0" algn="ctr">
              <a:buNone/>
            </a:pPr>
            <a:r>
              <a:rPr lang="en-US" sz="2600" b="1" dirty="0">
                <a:solidFill>
                  <a:srgbClr val="E0954D"/>
                </a:solidFill>
                <a:latin typeface="Cambria" pitchFamily="34" charset="0"/>
                <a:ea typeface="Cambria" pitchFamily="34" charset="-122"/>
                <a:cs typeface="Cambria" pitchFamily="34" charset="-120"/>
              </a:rPr>
              <a:t>30.3%</a:t>
            </a:r>
            <a:endParaRPr lang="en-US" sz="2600" dirty="0"/>
          </a:p>
        </p:txBody>
      </p:sp>
      <p:sp>
        <p:nvSpPr>
          <p:cNvPr id="15" name="Text 10"/>
          <p:cNvSpPr/>
          <p:nvPr/>
        </p:nvSpPr>
        <p:spPr>
          <a:xfrm>
            <a:off x="4800600" y="5285232"/>
            <a:ext cx="1645920" cy="594360"/>
          </a:xfrm>
          <a:prstGeom prst="rect">
            <a:avLst/>
          </a:prstGeom>
          <a:noFill/>
          <a:ln/>
        </p:spPr>
        <p:txBody>
          <a:bodyPr wrap="square" lIns="0" tIns="0" rIns="0" bIns="0" rtlCol="0" anchor="ctr"/>
          <a:lstStyle/>
          <a:p>
            <a:pPr marL="0" indent="0" algn="ctr">
              <a:lnSpc>
                <a:spcPct val="100000"/>
              </a:lnSpc>
              <a:buNone/>
            </a:pPr>
            <a:r>
              <a:rPr lang="en-US" sz="1050" dirty="0">
                <a:solidFill>
                  <a:srgbClr val="5B6B82"/>
                </a:solidFill>
                <a:latin typeface="Calibri" pitchFamily="34" charset="0"/>
                <a:ea typeface="Calibri" pitchFamily="34" charset="-122"/>
                <a:cs typeface="Calibri" pitchFamily="34" charset="-120"/>
              </a:rPr>
              <a:t>of High-Priority shipments STILL delayed</a:t>
            </a:r>
            <a:endParaRPr lang="en-US" sz="1050" dirty="0"/>
          </a:p>
        </p:txBody>
      </p:sp>
      <p:sp>
        <p:nvSpPr>
          <p:cNvPr id="16" name="Shape 11"/>
          <p:cNvSpPr/>
          <p:nvPr/>
        </p:nvSpPr>
        <p:spPr>
          <a:xfrm>
            <a:off x="6720840" y="4572000"/>
            <a:ext cx="1828800" cy="1417320"/>
          </a:xfrm>
          <a:prstGeom prst="roundRect">
            <a:avLst>
              <a:gd name="adj" fmla="val 3871"/>
            </a:avLst>
          </a:prstGeom>
          <a:solidFill>
            <a:srgbClr val="F4F7FB"/>
          </a:solidFill>
          <a:ln/>
        </p:spPr>
      </p:sp>
      <p:sp>
        <p:nvSpPr>
          <p:cNvPr id="17" name="Text 12"/>
          <p:cNvSpPr/>
          <p:nvPr/>
        </p:nvSpPr>
        <p:spPr>
          <a:xfrm>
            <a:off x="6720840" y="4709160"/>
            <a:ext cx="1828800" cy="594360"/>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36.2%</a:t>
            </a:r>
            <a:endParaRPr lang="en-US" sz="2600" dirty="0"/>
          </a:p>
        </p:txBody>
      </p:sp>
      <p:sp>
        <p:nvSpPr>
          <p:cNvPr id="18" name="Text 13"/>
          <p:cNvSpPr/>
          <p:nvPr/>
        </p:nvSpPr>
        <p:spPr>
          <a:xfrm>
            <a:off x="6812280" y="5285232"/>
            <a:ext cx="1645920" cy="594360"/>
          </a:xfrm>
          <a:prstGeom prst="rect">
            <a:avLst/>
          </a:prstGeom>
          <a:noFill/>
          <a:ln/>
        </p:spPr>
        <p:txBody>
          <a:bodyPr wrap="square" lIns="0" tIns="0" rIns="0" bIns="0" rtlCol="0" anchor="ctr"/>
          <a:lstStyle/>
          <a:p>
            <a:pPr marL="0" indent="0" algn="ctr">
              <a:lnSpc>
                <a:spcPct val="100000"/>
              </a:lnSpc>
              <a:buNone/>
            </a:pPr>
            <a:r>
              <a:rPr lang="en-US" sz="1050" dirty="0">
                <a:solidFill>
                  <a:srgbClr val="5B6B82"/>
                </a:solidFill>
                <a:latin typeface="Calibri" pitchFamily="34" charset="0"/>
                <a:ea typeface="Calibri" pitchFamily="34" charset="-122"/>
                <a:cs typeface="Calibri" pitchFamily="34" charset="-120"/>
              </a:rPr>
              <a:t>High-Priority success rate (vs 33.6% overall avg)</a:t>
            </a:r>
            <a:endParaRPr lang="en-US" sz="1050" dirty="0"/>
          </a:p>
        </p:txBody>
      </p:sp>
      <p:sp>
        <p:nvSpPr>
          <p:cNvPr id="19" name="Text 14"/>
          <p:cNvSpPr/>
          <p:nvPr/>
        </p:nvSpPr>
        <p:spPr>
          <a:xfrm>
            <a:off x="8823960" y="1691640"/>
            <a:ext cx="2926080" cy="292608"/>
          </a:xfrm>
          <a:prstGeom prst="rect">
            <a:avLst/>
          </a:prstGeom>
          <a:noFill/>
          <a:ln/>
        </p:spPr>
        <p:txBody>
          <a:bodyPr wrap="square" lIns="0" tIns="0" rIns="0" bIns="0" rtlCol="0" anchor="ctr"/>
          <a:lstStyle/>
          <a:p>
            <a:pPr marL="0" indent="0">
              <a:buNone/>
            </a:pPr>
            <a:r>
              <a:rPr lang="en-US" sz="1300" b="1" kern="0" spc="150" dirty="0">
                <a:solidFill>
                  <a:srgbClr val="1B2A4A"/>
                </a:solidFill>
                <a:latin typeface="Calibri" pitchFamily="34" charset="0"/>
                <a:ea typeface="Calibri" pitchFamily="34" charset="-122"/>
                <a:cs typeface="Calibri" pitchFamily="34" charset="-120"/>
              </a:rPr>
              <a:t>KEY FINDINGS</a:t>
            </a:r>
            <a:endParaRPr lang="en-US" sz="1300" dirty="0"/>
          </a:p>
        </p:txBody>
      </p:sp>
      <p:sp>
        <p:nvSpPr>
          <p:cNvPr id="20" name="Text 15"/>
          <p:cNvSpPr/>
          <p:nvPr/>
        </p:nvSpPr>
        <p:spPr>
          <a:xfrm>
            <a:off x="8823960" y="2011680"/>
            <a:ext cx="2926080" cy="237744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High-priority shipments are SLOWER than Low-priority — the priority label has no real effect.</a:t>
            </a:r>
            <a:endParaRPr lang="en-US" sz="1200" dirty="0"/>
          </a:p>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30.3% of High-priority shipments are still delayed.</a:t>
            </a:r>
            <a:endParaRPr lang="en-US" sz="1200" dirty="0"/>
          </a:p>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Air performs best for High-priority (46.2% success) vs Truck (29.5%).</a:t>
            </a:r>
            <a:endParaRPr lang="en-US" sz="1200" dirty="0"/>
          </a:p>
        </p:txBody>
      </p:sp>
      <p:sp>
        <p:nvSpPr>
          <p:cNvPr id="21" name="Text 16"/>
          <p:cNvSpPr/>
          <p:nvPr/>
        </p:nvSpPr>
        <p:spPr>
          <a:xfrm>
            <a:off x="8823960" y="4526280"/>
            <a:ext cx="2926080" cy="292608"/>
          </a:xfrm>
          <a:prstGeom prst="rect">
            <a:avLst/>
          </a:prstGeom>
          <a:noFill/>
          <a:ln/>
        </p:spPr>
        <p:txBody>
          <a:bodyPr wrap="square" lIns="0" tIns="0" rIns="0" bIns="0" rtlCol="0" anchor="ctr"/>
          <a:lstStyle/>
          <a:p>
            <a:pPr marL="0" indent="0">
              <a:buNone/>
            </a:pPr>
            <a:r>
              <a:rPr lang="en-US" sz="1300" b="1" kern="0" spc="150" dirty="0">
                <a:solidFill>
                  <a:srgbClr val="3E8E5A"/>
                </a:solidFill>
                <a:latin typeface="Calibri" pitchFamily="34" charset="0"/>
                <a:ea typeface="Calibri" pitchFamily="34" charset="-122"/>
                <a:cs typeface="Calibri" pitchFamily="34" charset="-120"/>
              </a:rPr>
              <a:t>RECOMMENDATIONS</a:t>
            </a:r>
            <a:endParaRPr lang="en-US" sz="1300" dirty="0"/>
          </a:p>
        </p:txBody>
      </p:sp>
      <p:sp>
        <p:nvSpPr>
          <p:cNvPr id="22" name="Text 17"/>
          <p:cNvSpPr/>
          <p:nvPr/>
        </p:nvSpPr>
        <p:spPr>
          <a:xfrm>
            <a:off x="8823960" y="4846320"/>
            <a:ext cx="2926080" cy="16459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Overhaul the priority system — it currently has no operational impact.</a:t>
            </a:r>
            <a:endParaRPr lang="en-US" sz="1200" dirty="0"/>
          </a:p>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Route all High-priority shipments via Air transport.</a:t>
            </a:r>
            <a:endParaRPr lang="en-US" sz="1200" dirty="0"/>
          </a:p>
          <a:p>
            <a:pPr marL="342900" indent="-342900">
              <a:lnSpc>
                <a:spcPct val="115000"/>
              </a:lnSpc>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Assign top-performing drivers and set a 70% on-time target within 3 months.</a:t>
            </a:r>
            <a:endParaRPr lang="en-US" sz="1200" dirty="0"/>
          </a:p>
        </p:txBody>
      </p:sp>
      <p:sp>
        <p:nvSpPr>
          <p:cNvPr id="23" name="Text 18"/>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13</a:t>
            </a:r>
            <a:endParaRPr lang="en-US" sz="1000" dirty="0"/>
          </a:p>
        </p:txBody>
      </p:sp>
      <p:sp>
        <p:nvSpPr>
          <p:cNvPr id="24" name="Text 19"/>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B2A4A">
              <a:alpha val="60000"/>
            </a:srgbClr>
          </a:solidFill>
          <a:ln/>
        </p:spPr>
      </p:sp>
      <p:sp>
        <p:nvSpPr>
          <p:cNvPr id="3" name="Text 1"/>
          <p:cNvSpPr/>
          <p:nvPr/>
        </p:nvSpPr>
        <p:spPr>
          <a:xfrm>
            <a:off x="502920" y="457200"/>
            <a:ext cx="9144000" cy="36576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STRATEGIC PRIORITIES</a:t>
            </a:r>
            <a:endParaRPr lang="en-US" sz="1300" dirty="0"/>
          </a:p>
        </p:txBody>
      </p:sp>
      <p:sp>
        <p:nvSpPr>
          <p:cNvPr id="4" name="Text 2"/>
          <p:cNvSpPr/>
          <p:nvPr/>
        </p:nvSpPr>
        <p:spPr>
          <a:xfrm>
            <a:off x="502920" y="777240"/>
            <a:ext cx="100584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Four actions for the next 6 months</a:t>
            </a:r>
            <a:endParaRPr lang="en-US" sz="3200" dirty="0"/>
          </a:p>
        </p:txBody>
      </p:sp>
      <p:sp>
        <p:nvSpPr>
          <p:cNvPr id="5" name="Shape 3"/>
          <p:cNvSpPr/>
          <p:nvPr/>
        </p:nvSpPr>
        <p:spPr>
          <a:xfrm>
            <a:off x="502920" y="1691640"/>
            <a:ext cx="2743200" cy="3749040"/>
          </a:xfrm>
          <a:prstGeom prst="roundRect">
            <a:avLst>
              <a:gd name="adj" fmla="val 2667"/>
            </a:avLst>
          </a:prstGeom>
          <a:solidFill>
            <a:srgbClr val="1B2A4A"/>
          </a:solidFill>
          <a:ln/>
        </p:spPr>
      </p:sp>
      <p:sp>
        <p:nvSpPr>
          <p:cNvPr id="6" name="Shape 4"/>
          <p:cNvSpPr/>
          <p:nvPr/>
        </p:nvSpPr>
        <p:spPr>
          <a:xfrm>
            <a:off x="731520" y="1965960"/>
            <a:ext cx="594360" cy="594360"/>
          </a:xfrm>
          <a:prstGeom prst="ellipse">
            <a:avLst/>
          </a:prstGeom>
          <a:solidFill>
            <a:srgbClr val="E0954D"/>
          </a:solidFill>
          <a:ln/>
        </p:spPr>
      </p:sp>
      <p:pic>
        <p:nvPicPr>
          <p:cNvPr id="7" name="Image 0" descr="preencoded.png"/>
          <p:cNvPicPr>
            <a:picLocks noChangeAspect="1"/>
          </p:cNvPicPr>
          <p:nvPr/>
        </p:nvPicPr>
        <p:blipFill>
          <a:blip r:embed="rId3"/>
          <a:stretch>
            <a:fillRect/>
          </a:stretch>
        </p:blipFill>
        <p:spPr>
          <a:xfrm>
            <a:off x="864108" y="2093976"/>
            <a:ext cx="329184" cy="329184"/>
          </a:xfrm>
          <a:prstGeom prst="rect">
            <a:avLst/>
          </a:prstGeom>
        </p:spPr>
      </p:pic>
      <p:sp>
        <p:nvSpPr>
          <p:cNvPr id="8" name="Text 5"/>
          <p:cNvSpPr/>
          <p:nvPr/>
        </p:nvSpPr>
        <p:spPr>
          <a:xfrm>
            <a:off x="2651760" y="1965960"/>
            <a:ext cx="411480" cy="594360"/>
          </a:xfrm>
          <a:prstGeom prst="rect">
            <a:avLst/>
          </a:prstGeom>
          <a:noFill/>
          <a:ln/>
        </p:spPr>
        <p:txBody>
          <a:bodyPr wrap="square" lIns="0" tIns="0" rIns="0" bIns="0" rtlCol="0" anchor="ctr"/>
          <a:lstStyle/>
          <a:p>
            <a:pPr marL="0" indent="0" algn="r">
              <a:buNone/>
            </a:pPr>
            <a:r>
              <a:rPr lang="en-US" sz="2600" b="1" dirty="0">
                <a:solidFill>
                  <a:srgbClr val="3D5A80"/>
                </a:solidFill>
                <a:latin typeface="Cambria" pitchFamily="34" charset="0"/>
                <a:ea typeface="Cambria" pitchFamily="34" charset="-122"/>
                <a:cs typeface="Cambria" pitchFamily="34" charset="-120"/>
              </a:rPr>
              <a:t>1</a:t>
            </a:r>
            <a:endParaRPr lang="en-US" sz="2600" dirty="0"/>
          </a:p>
        </p:txBody>
      </p:sp>
      <p:sp>
        <p:nvSpPr>
          <p:cNvPr id="9" name="Text 6"/>
          <p:cNvSpPr/>
          <p:nvPr/>
        </p:nvSpPr>
        <p:spPr>
          <a:xfrm>
            <a:off x="731520" y="2743200"/>
            <a:ext cx="2286000" cy="685800"/>
          </a:xfrm>
          <a:prstGeom prst="rect">
            <a:avLst/>
          </a:prstGeom>
          <a:noFill/>
          <a:ln/>
        </p:spPr>
        <p:txBody>
          <a:bodyPr wrap="square" lIns="0" tIns="0" rIns="0" bIns="0" rtlCol="0" anchor="ctr"/>
          <a:lstStyle/>
          <a:p>
            <a:pPr marL="0" indent="0">
              <a:lnSpc>
                <a:spcPct val="100000"/>
              </a:lnSpc>
              <a:buNone/>
            </a:pPr>
            <a:r>
              <a:rPr lang="en-US" sz="1700" b="1" dirty="0">
                <a:solidFill>
                  <a:srgbClr val="FFFFFF"/>
                </a:solidFill>
                <a:latin typeface="Cambria" pitchFamily="34" charset="0"/>
                <a:ea typeface="Cambria" pitchFamily="34" charset="-122"/>
                <a:cs typeface="Cambria" pitchFamily="34" charset="-120"/>
              </a:rPr>
              <a:t>Fix delivery performance</a:t>
            </a:r>
            <a:endParaRPr lang="en-US" sz="1700" dirty="0"/>
          </a:p>
        </p:txBody>
      </p:sp>
      <p:sp>
        <p:nvSpPr>
          <p:cNvPr id="10" name="Text 7"/>
          <p:cNvSpPr/>
          <p:nvPr/>
        </p:nvSpPr>
        <p:spPr>
          <a:xfrm>
            <a:off x="731520" y="3429000"/>
            <a:ext cx="2286000" cy="1920240"/>
          </a:xfrm>
          <a:prstGeom prst="rect">
            <a:avLst/>
          </a:prstGeom>
          <a:noFill/>
          <a:ln/>
        </p:spPr>
        <p:txBody>
          <a:bodyPr wrap="square" lIns="0" tIns="0" rIns="0" bIns="0" rtlCol="0" anchor="ctr"/>
          <a:lstStyle/>
          <a:p>
            <a:pPr marL="0" indent="0">
              <a:lnSpc>
                <a:spcPct val="125000"/>
              </a:lnSpc>
              <a:buNone/>
            </a:pPr>
            <a:r>
              <a:rPr lang="en-US" sz="1250" dirty="0">
                <a:solidFill>
                  <a:srgbClr val="C7D2E3"/>
                </a:solidFill>
                <a:latin typeface="Calibri" pitchFamily="34" charset="0"/>
                <a:ea typeface="Calibri" pitchFamily="34" charset="-122"/>
                <a:cs typeface="Calibri" pitchFamily="34" charset="-120"/>
              </a:rPr>
              <a:t>Raise the on-time delivery rate from 33.6% to at least 60% through mandatory vehicle maintenance and route optimisation.</a:t>
            </a:r>
            <a:endParaRPr lang="en-US" sz="1250" dirty="0"/>
          </a:p>
        </p:txBody>
      </p:sp>
      <p:sp>
        <p:nvSpPr>
          <p:cNvPr id="11" name="Shape 8"/>
          <p:cNvSpPr/>
          <p:nvPr/>
        </p:nvSpPr>
        <p:spPr>
          <a:xfrm>
            <a:off x="3474720" y="1691640"/>
            <a:ext cx="2743200" cy="3749040"/>
          </a:xfrm>
          <a:prstGeom prst="roundRect">
            <a:avLst>
              <a:gd name="adj" fmla="val 2667"/>
            </a:avLst>
          </a:prstGeom>
          <a:solidFill>
            <a:srgbClr val="1B2A4A"/>
          </a:solidFill>
          <a:ln/>
        </p:spPr>
      </p:sp>
      <p:sp>
        <p:nvSpPr>
          <p:cNvPr id="12" name="Shape 9"/>
          <p:cNvSpPr/>
          <p:nvPr/>
        </p:nvSpPr>
        <p:spPr>
          <a:xfrm>
            <a:off x="3703320" y="1965960"/>
            <a:ext cx="594360" cy="594360"/>
          </a:xfrm>
          <a:prstGeom prst="ellipse">
            <a:avLst/>
          </a:prstGeom>
          <a:solidFill>
            <a:srgbClr val="E0954D"/>
          </a:solidFill>
          <a:ln/>
        </p:spPr>
      </p:sp>
      <p:pic>
        <p:nvPicPr>
          <p:cNvPr id="13" name="Image 1" descr="preencoded.png"/>
          <p:cNvPicPr>
            <a:picLocks noChangeAspect="1"/>
          </p:cNvPicPr>
          <p:nvPr/>
        </p:nvPicPr>
        <p:blipFill>
          <a:blip r:embed="rId4"/>
          <a:stretch>
            <a:fillRect/>
          </a:stretch>
        </p:blipFill>
        <p:spPr>
          <a:xfrm>
            <a:off x="3835908" y="2093976"/>
            <a:ext cx="329184" cy="329184"/>
          </a:xfrm>
          <a:prstGeom prst="rect">
            <a:avLst/>
          </a:prstGeom>
        </p:spPr>
      </p:pic>
      <p:sp>
        <p:nvSpPr>
          <p:cNvPr id="14" name="Text 10"/>
          <p:cNvSpPr/>
          <p:nvPr/>
        </p:nvSpPr>
        <p:spPr>
          <a:xfrm>
            <a:off x="5623560" y="1965960"/>
            <a:ext cx="411480" cy="594360"/>
          </a:xfrm>
          <a:prstGeom prst="rect">
            <a:avLst/>
          </a:prstGeom>
          <a:noFill/>
          <a:ln/>
        </p:spPr>
        <p:txBody>
          <a:bodyPr wrap="square" lIns="0" tIns="0" rIns="0" bIns="0" rtlCol="0" anchor="ctr"/>
          <a:lstStyle/>
          <a:p>
            <a:pPr marL="0" indent="0" algn="r">
              <a:buNone/>
            </a:pPr>
            <a:r>
              <a:rPr lang="en-US" sz="2600" b="1" dirty="0">
                <a:solidFill>
                  <a:srgbClr val="3D5A80"/>
                </a:solidFill>
                <a:latin typeface="Cambria" pitchFamily="34" charset="0"/>
                <a:ea typeface="Cambria" pitchFamily="34" charset="-122"/>
                <a:cs typeface="Cambria" pitchFamily="34" charset="-120"/>
              </a:rPr>
              <a:t>2</a:t>
            </a:r>
            <a:endParaRPr lang="en-US" sz="2600" dirty="0"/>
          </a:p>
        </p:txBody>
      </p:sp>
      <p:sp>
        <p:nvSpPr>
          <p:cNvPr id="15" name="Text 11"/>
          <p:cNvSpPr/>
          <p:nvPr/>
        </p:nvSpPr>
        <p:spPr>
          <a:xfrm>
            <a:off x="3703320" y="2743200"/>
            <a:ext cx="2286000" cy="685800"/>
          </a:xfrm>
          <a:prstGeom prst="rect">
            <a:avLst/>
          </a:prstGeom>
          <a:noFill/>
          <a:ln/>
        </p:spPr>
        <p:txBody>
          <a:bodyPr wrap="square" lIns="0" tIns="0" rIns="0" bIns="0" rtlCol="0" anchor="ctr"/>
          <a:lstStyle/>
          <a:p>
            <a:pPr marL="0" indent="0">
              <a:lnSpc>
                <a:spcPct val="100000"/>
              </a:lnSpc>
              <a:buNone/>
            </a:pPr>
            <a:r>
              <a:rPr lang="en-US" sz="1700" b="1" dirty="0">
                <a:solidFill>
                  <a:srgbClr val="FFFFFF"/>
                </a:solidFill>
                <a:latin typeface="Cambria" pitchFamily="34" charset="0"/>
                <a:ea typeface="Cambria" pitchFamily="34" charset="-122"/>
                <a:cs typeface="Cambria" pitchFamily="34" charset="-120"/>
              </a:rPr>
              <a:t>Recover outstanding revenue</a:t>
            </a:r>
            <a:endParaRPr lang="en-US" sz="1700" dirty="0"/>
          </a:p>
        </p:txBody>
      </p:sp>
      <p:sp>
        <p:nvSpPr>
          <p:cNvPr id="16" name="Text 12"/>
          <p:cNvSpPr/>
          <p:nvPr/>
        </p:nvSpPr>
        <p:spPr>
          <a:xfrm>
            <a:off x="3703320" y="3429000"/>
            <a:ext cx="2286000" cy="1920240"/>
          </a:xfrm>
          <a:prstGeom prst="rect">
            <a:avLst/>
          </a:prstGeom>
          <a:noFill/>
          <a:ln/>
        </p:spPr>
        <p:txBody>
          <a:bodyPr wrap="square" lIns="0" tIns="0" rIns="0" bIns="0" rtlCol="0" anchor="ctr"/>
          <a:lstStyle/>
          <a:p>
            <a:pPr marL="0" indent="0">
              <a:lnSpc>
                <a:spcPct val="125000"/>
              </a:lnSpc>
              <a:buNone/>
            </a:pPr>
            <a:r>
              <a:rPr lang="en-US" sz="1250" dirty="0">
                <a:solidFill>
                  <a:srgbClr val="C7D2E3"/>
                </a:solidFill>
                <a:latin typeface="Calibri" pitchFamily="34" charset="0"/>
                <a:ea typeface="Calibri" pitchFamily="34" charset="-122"/>
                <a:cs typeface="Calibri" pitchFamily="34" charset="-120"/>
              </a:rPr>
              <a:t>Launch an immediate debt recovery programme targeting ₦66.5M in unpaid shipments, starting with the top 10 defaulting customers.</a:t>
            </a:r>
            <a:endParaRPr lang="en-US" sz="1250" dirty="0"/>
          </a:p>
        </p:txBody>
      </p:sp>
      <p:sp>
        <p:nvSpPr>
          <p:cNvPr id="17" name="Shape 13"/>
          <p:cNvSpPr/>
          <p:nvPr/>
        </p:nvSpPr>
        <p:spPr>
          <a:xfrm>
            <a:off x="6446520" y="1691640"/>
            <a:ext cx="2743200" cy="3749040"/>
          </a:xfrm>
          <a:prstGeom prst="roundRect">
            <a:avLst>
              <a:gd name="adj" fmla="val 2667"/>
            </a:avLst>
          </a:prstGeom>
          <a:solidFill>
            <a:srgbClr val="1B2A4A"/>
          </a:solidFill>
          <a:ln/>
        </p:spPr>
      </p:sp>
      <p:sp>
        <p:nvSpPr>
          <p:cNvPr id="18" name="Shape 14"/>
          <p:cNvSpPr/>
          <p:nvPr/>
        </p:nvSpPr>
        <p:spPr>
          <a:xfrm>
            <a:off x="6675120" y="1965960"/>
            <a:ext cx="594360" cy="594360"/>
          </a:xfrm>
          <a:prstGeom prst="ellipse">
            <a:avLst/>
          </a:prstGeom>
          <a:solidFill>
            <a:srgbClr val="E0954D"/>
          </a:solidFill>
          <a:ln/>
        </p:spPr>
      </p:sp>
      <p:pic>
        <p:nvPicPr>
          <p:cNvPr id="19" name="Image 2" descr="preencoded.png"/>
          <p:cNvPicPr>
            <a:picLocks noChangeAspect="1"/>
          </p:cNvPicPr>
          <p:nvPr/>
        </p:nvPicPr>
        <p:blipFill>
          <a:blip r:embed="rId5"/>
          <a:stretch>
            <a:fillRect/>
          </a:stretch>
        </p:blipFill>
        <p:spPr>
          <a:xfrm>
            <a:off x="6807708" y="2093976"/>
            <a:ext cx="329184" cy="329184"/>
          </a:xfrm>
          <a:prstGeom prst="rect">
            <a:avLst/>
          </a:prstGeom>
        </p:spPr>
      </p:pic>
      <p:sp>
        <p:nvSpPr>
          <p:cNvPr id="20" name="Text 15"/>
          <p:cNvSpPr/>
          <p:nvPr/>
        </p:nvSpPr>
        <p:spPr>
          <a:xfrm>
            <a:off x="8595360" y="1965960"/>
            <a:ext cx="411480" cy="594360"/>
          </a:xfrm>
          <a:prstGeom prst="rect">
            <a:avLst/>
          </a:prstGeom>
          <a:noFill/>
          <a:ln/>
        </p:spPr>
        <p:txBody>
          <a:bodyPr wrap="square" lIns="0" tIns="0" rIns="0" bIns="0" rtlCol="0" anchor="ctr"/>
          <a:lstStyle/>
          <a:p>
            <a:pPr marL="0" indent="0" algn="r">
              <a:buNone/>
            </a:pPr>
            <a:r>
              <a:rPr lang="en-US" sz="2600" b="1" dirty="0">
                <a:solidFill>
                  <a:srgbClr val="3D5A80"/>
                </a:solidFill>
                <a:latin typeface="Cambria" pitchFamily="34" charset="0"/>
                <a:ea typeface="Cambria" pitchFamily="34" charset="-122"/>
                <a:cs typeface="Cambria" pitchFamily="34" charset="-120"/>
              </a:rPr>
              <a:t>3</a:t>
            </a:r>
            <a:endParaRPr lang="en-US" sz="2600" dirty="0"/>
          </a:p>
        </p:txBody>
      </p:sp>
      <p:sp>
        <p:nvSpPr>
          <p:cNvPr id="21" name="Text 16"/>
          <p:cNvSpPr/>
          <p:nvPr/>
        </p:nvSpPr>
        <p:spPr>
          <a:xfrm>
            <a:off x="6675120" y="2743200"/>
            <a:ext cx="2286000" cy="685800"/>
          </a:xfrm>
          <a:prstGeom prst="rect">
            <a:avLst/>
          </a:prstGeom>
          <a:noFill/>
          <a:ln/>
        </p:spPr>
        <p:txBody>
          <a:bodyPr wrap="square" lIns="0" tIns="0" rIns="0" bIns="0" rtlCol="0" anchor="ctr"/>
          <a:lstStyle/>
          <a:p>
            <a:pPr marL="0" indent="0">
              <a:lnSpc>
                <a:spcPct val="100000"/>
              </a:lnSpc>
              <a:buNone/>
            </a:pPr>
            <a:r>
              <a:rPr lang="en-US" sz="1700" b="1" dirty="0">
                <a:solidFill>
                  <a:srgbClr val="FFFFFF"/>
                </a:solidFill>
                <a:latin typeface="Cambria" pitchFamily="34" charset="0"/>
                <a:ea typeface="Cambria" pitchFamily="34" charset="-122"/>
                <a:cs typeface="Cambria" pitchFamily="34" charset="-120"/>
              </a:rPr>
              <a:t>Control Shipment costs</a:t>
            </a:r>
            <a:endParaRPr lang="en-US" sz="1700" dirty="0"/>
          </a:p>
        </p:txBody>
      </p:sp>
      <p:sp>
        <p:nvSpPr>
          <p:cNvPr id="22" name="Text 17"/>
          <p:cNvSpPr/>
          <p:nvPr/>
        </p:nvSpPr>
        <p:spPr>
          <a:xfrm>
            <a:off x="6675120" y="3429000"/>
            <a:ext cx="2286000" cy="1920240"/>
          </a:xfrm>
          <a:prstGeom prst="rect">
            <a:avLst/>
          </a:prstGeom>
          <a:noFill/>
          <a:ln/>
        </p:spPr>
        <p:txBody>
          <a:bodyPr wrap="square" lIns="0" tIns="0" rIns="0" bIns="0" rtlCol="0" anchor="ctr"/>
          <a:lstStyle/>
          <a:p>
            <a:pPr marL="0" indent="0">
              <a:lnSpc>
                <a:spcPct val="125000"/>
              </a:lnSpc>
              <a:buNone/>
            </a:pPr>
            <a:r>
              <a:rPr lang="en-US" sz="1250" dirty="0">
                <a:solidFill>
                  <a:srgbClr val="C7D2E3"/>
                </a:solidFill>
                <a:latin typeface="Calibri" pitchFamily="34" charset="0"/>
                <a:ea typeface="Calibri" pitchFamily="34" charset="-122"/>
                <a:cs typeface="Calibri" pitchFamily="34" charset="-120"/>
              </a:rPr>
              <a:t>Audit high-cost outlier shipments and renegotiate contracts on the highest-cost routes and the Truck transport mode.</a:t>
            </a:r>
            <a:endParaRPr lang="en-US" sz="1250" dirty="0"/>
          </a:p>
        </p:txBody>
      </p:sp>
      <p:sp>
        <p:nvSpPr>
          <p:cNvPr id="23" name="Shape 18"/>
          <p:cNvSpPr/>
          <p:nvPr/>
        </p:nvSpPr>
        <p:spPr>
          <a:xfrm>
            <a:off x="9418320" y="1691640"/>
            <a:ext cx="2743200" cy="3749040"/>
          </a:xfrm>
          <a:prstGeom prst="roundRect">
            <a:avLst>
              <a:gd name="adj" fmla="val 2667"/>
            </a:avLst>
          </a:prstGeom>
          <a:solidFill>
            <a:srgbClr val="1B2A4A"/>
          </a:solidFill>
          <a:ln/>
        </p:spPr>
      </p:sp>
      <p:sp>
        <p:nvSpPr>
          <p:cNvPr id="24" name="Shape 19"/>
          <p:cNvSpPr/>
          <p:nvPr/>
        </p:nvSpPr>
        <p:spPr>
          <a:xfrm>
            <a:off x="9646920" y="1965960"/>
            <a:ext cx="594360" cy="594360"/>
          </a:xfrm>
          <a:prstGeom prst="ellipse">
            <a:avLst/>
          </a:prstGeom>
          <a:solidFill>
            <a:srgbClr val="E0954D"/>
          </a:solidFill>
          <a:ln/>
        </p:spPr>
      </p:sp>
      <p:pic>
        <p:nvPicPr>
          <p:cNvPr id="25" name="Image 3" descr="preencoded.png"/>
          <p:cNvPicPr>
            <a:picLocks noChangeAspect="1"/>
          </p:cNvPicPr>
          <p:nvPr/>
        </p:nvPicPr>
        <p:blipFill>
          <a:blip r:embed="rId6"/>
          <a:stretch>
            <a:fillRect/>
          </a:stretch>
        </p:blipFill>
        <p:spPr>
          <a:xfrm>
            <a:off x="9779508" y="2093976"/>
            <a:ext cx="329184" cy="329184"/>
          </a:xfrm>
          <a:prstGeom prst="rect">
            <a:avLst/>
          </a:prstGeom>
        </p:spPr>
      </p:pic>
      <p:sp>
        <p:nvSpPr>
          <p:cNvPr id="26" name="Text 20"/>
          <p:cNvSpPr/>
          <p:nvPr/>
        </p:nvSpPr>
        <p:spPr>
          <a:xfrm>
            <a:off x="11567160" y="1965960"/>
            <a:ext cx="411480" cy="594360"/>
          </a:xfrm>
          <a:prstGeom prst="rect">
            <a:avLst/>
          </a:prstGeom>
          <a:noFill/>
          <a:ln/>
        </p:spPr>
        <p:txBody>
          <a:bodyPr wrap="square" lIns="0" tIns="0" rIns="0" bIns="0" rtlCol="0" anchor="ctr"/>
          <a:lstStyle/>
          <a:p>
            <a:pPr marL="0" indent="0" algn="r">
              <a:buNone/>
            </a:pPr>
            <a:r>
              <a:rPr lang="en-US" sz="2600" b="1" dirty="0">
                <a:solidFill>
                  <a:srgbClr val="3D5A80"/>
                </a:solidFill>
                <a:latin typeface="Cambria" pitchFamily="34" charset="0"/>
                <a:ea typeface="Cambria" pitchFamily="34" charset="-122"/>
                <a:cs typeface="Cambria" pitchFamily="34" charset="-120"/>
              </a:rPr>
              <a:t>4</a:t>
            </a:r>
            <a:endParaRPr lang="en-US" sz="2600" dirty="0"/>
          </a:p>
        </p:txBody>
      </p:sp>
      <p:sp>
        <p:nvSpPr>
          <p:cNvPr id="27" name="Text 21"/>
          <p:cNvSpPr/>
          <p:nvPr/>
        </p:nvSpPr>
        <p:spPr>
          <a:xfrm>
            <a:off x="9646920" y="2743200"/>
            <a:ext cx="2286000" cy="685800"/>
          </a:xfrm>
          <a:prstGeom prst="rect">
            <a:avLst/>
          </a:prstGeom>
          <a:noFill/>
          <a:ln/>
        </p:spPr>
        <p:txBody>
          <a:bodyPr wrap="square" lIns="0" tIns="0" rIns="0" bIns="0" rtlCol="0" anchor="ctr"/>
          <a:lstStyle/>
          <a:p>
            <a:pPr marL="0" indent="0">
              <a:lnSpc>
                <a:spcPct val="100000"/>
              </a:lnSpc>
              <a:buNone/>
            </a:pPr>
            <a:r>
              <a:rPr lang="en-US" sz="1700" b="1" dirty="0">
                <a:solidFill>
                  <a:srgbClr val="FFFFFF"/>
                </a:solidFill>
                <a:latin typeface="Cambria" pitchFamily="34" charset="0"/>
                <a:ea typeface="Cambria" pitchFamily="34" charset="-122"/>
                <a:cs typeface="Cambria" pitchFamily="34" charset="-120"/>
              </a:rPr>
              <a:t>Rebuild the priority system</a:t>
            </a:r>
            <a:endParaRPr lang="en-US" sz="1700" dirty="0"/>
          </a:p>
        </p:txBody>
      </p:sp>
      <p:sp>
        <p:nvSpPr>
          <p:cNvPr id="28" name="Text 22"/>
          <p:cNvSpPr/>
          <p:nvPr/>
        </p:nvSpPr>
        <p:spPr>
          <a:xfrm>
            <a:off x="9646920" y="3429000"/>
            <a:ext cx="2286000" cy="1920240"/>
          </a:xfrm>
          <a:prstGeom prst="rect">
            <a:avLst/>
          </a:prstGeom>
          <a:noFill/>
          <a:ln/>
        </p:spPr>
        <p:txBody>
          <a:bodyPr wrap="square" lIns="0" tIns="0" rIns="0" bIns="0" rtlCol="0" anchor="ctr"/>
          <a:lstStyle/>
          <a:p>
            <a:pPr marL="0" indent="0">
              <a:lnSpc>
                <a:spcPct val="125000"/>
              </a:lnSpc>
              <a:buNone/>
            </a:pPr>
            <a:r>
              <a:rPr lang="en-US" sz="1250" dirty="0">
                <a:solidFill>
                  <a:srgbClr val="C7D2E3"/>
                </a:solidFill>
                <a:latin typeface="Calibri" pitchFamily="34" charset="0"/>
                <a:ea typeface="Calibri" pitchFamily="34" charset="-122"/>
                <a:cs typeface="Calibri" pitchFamily="34" charset="-120"/>
              </a:rPr>
              <a:t>Redesign the High-Priority workflow — route via Air, assign top drivers, and target 70% on-time delivery within 3 months.</a:t>
            </a:r>
            <a:endParaRPr lang="en-US" sz="1250" dirty="0"/>
          </a:p>
        </p:txBody>
      </p:sp>
      <p:sp>
        <p:nvSpPr>
          <p:cNvPr id="29" name="Shape 23"/>
          <p:cNvSpPr/>
          <p:nvPr/>
        </p:nvSpPr>
        <p:spPr>
          <a:xfrm>
            <a:off x="502920" y="5715000"/>
            <a:ext cx="11201400" cy="0"/>
          </a:xfrm>
          <a:prstGeom prst="line">
            <a:avLst/>
          </a:prstGeom>
          <a:noFill/>
          <a:ln w="12700">
            <a:solidFill>
              <a:srgbClr val="3D5A80"/>
            </a:solidFill>
            <a:prstDash val="solid"/>
          </a:ln>
        </p:spPr>
      </p:sp>
      <p:sp>
        <p:nvSpPr>
          <p:cNvPr id="30" name="Text 24"/>
          <p:cNvSpPr/>
          <p:nvPr/>
        </p:nvSpPr>
        <p:spPr>
          <a:xfrm>
            <a:off x="502920" y="5852160"/>
            <a:ext cx="11201400" cy="457200"/>
          </a:xfrm>
          <a:prstGeom prst="rect">
            <a:avLst/>
          </a:prstGeom>
          <a:noFill/>
          <a:ln/>
        </p:spPr>
        <p:txBody>
          <a:bodyPr wrap="square" lIns="0" tIns="0" rIns="0" bIns="0" rtlCol="0" anchor="ctr"/>
          <a:lstStyle/>
          <a:p>
            <a:pPr marL="0" indent="0" algn="ctr">
              <a:buNone/>
            </a:pPr>
            <a:r>
              <a:rPr lang="en-US" sz="1500" i="1" dirty="0">
                <a:solidFill>
                  <a:srgbClr val="E0954D"/>
                </a:solidFill>
                <a:latin typeface="Cambria" pitchFamily="34" charset="0"/>
                <a:ea typeface="Cambria" pitchFamily="34" charset="-122"/>
                <a:cs typeface="Cambria" pitchFamily="34" charset="-120"/>
              </a:rPr>
              <a:t>These five dashboards will be updated monthly so the Board can track progress against each of these targets.</a:t>
            </a:r>
            <a:endParaRPr lang="en-US" sz="1500" dirty="0"/>
          </a:p>
        </p:txBody>
      </p:sp>
      <p:sp>
        <p:nvSpPr>
          <p:cNvPr id="31" name="Text 25"/>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14</a:t>
            </a:r>
            <a:endParaRPr lang="en-US" sz="1000" dirty="0"/>
          </a:p>
        </p:txBody>
      </p:sp>
      <p:sp>
        <p:nvSpPr>
          <p:cNvPr id="32" name="Text 26"/>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144000" y="-2743200"/>
            <a:ext cx="6400800" cy="6400800"/>
          </a:xfrm>
          <a:prstGeom prst="ellipse">
            <a:avLst/>
          </a:prstGeom>
          <a:solidFill>
            <a:srgbClr val="121C33">
              <a:alpha val="70000"/>
            </a:srgbClr>
          </a:solidFill>
          <a:ln/>
        </p:spPr>
      </p:sp>
      <p:sp>
        <p:nvSpPr>
          <p:cNvPr id="3" name="Text 1"/>
          <p:cNvSpPr/>
          <p:nvPr/>
        </p:nvSpPr>
        <p:spPr>
          <a:xfrm>
            <a:off x="502920" y="457200"/>
            <a:ext cx="9144000" cy="365760"/>
          </a:xfrm>
          <a:prstGeom prst="rect">
            <a:avLst/>
          </a:prstGeom>
          <a:noFill/>
          <a:ln/>
        </p:spPr>
        <p:txBody>
          <a:bodyPr wrap="square" lIns="0" tIns="0" rIns="0" bIns="0" rtlCol="0" anchor="ctr"/>
          <a:lstStyle/>
          <a:p>
            <a:pPr marL="0" indent="0">
              <a:buNone/>
            </a:pPr>
            <a:r>
              <a:rPr lang="en-US" sz="1300" b="1" kern="0" spc="200" dirty="0">
                <a:solidFill>
                  <a:srgbClr val="E0954D"/>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02920" y="777240"/>
            <a:ext cx="109728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One company, one set of numbers, one path forward</a:t>
            </a:r>
            <a:endParaRPr lang="en-US" sz="3000" dirty="0"/>
          </a:p>
        </p:txBody>
      </p:sp>
      <p:sp>
        <p:nvSpPr>
          <p:cNvPr id="5" name="Text 3"/>
          <p:cNvSpPr/>
          <p:nvPr/>
        </p:nvSpPr>
        <p:spPr>
          <a:xfrm>
            <a:off x="502920" y="1554480"/>
            <a:ext cx="11201400" cy="1417320"/>
          </a:xfrm>
          <a:prstGeom prst="rect">
            <a:avLst/>
          </a:prstGeom>
          <a:noFill/>
          <a:ln/>
        </p:spPr>
        <p:txBody>
          <a:bodyPr wrap="square" lIns="0" tIns="0" rIns="0" bIns="0" rtlCol="0" anchor="ctr"/>
          <a:lstStyle/>
          <a:p>
            <a:pPr marL="0" indent="0">
              <a:lnSpc>
                <a:spcPct val="135000"/>
              </a:lnSpc>
              <a:buNone/>
            </a:pPr>
            <a:r>
              <a:rPr lang="en-US" sz="1700" dirty="0">
                <a:solidFill>
                  <a:srgbClr val="DCE4F2"/>
                </a:solidFill>
                <a:latin typeface="Cambria" pitchFamily="34" charset="0"/>
                <a:ea typeface="Cambria" pitchFamily="34" charset="-122"/>
                <a:cs typeface="Cambria" pitchFamily="34" charset="-120"/>
              </a:rPr>
              <a:t>Across all five dashboards, the same story repeats itself: PrimeProcure has the volume, the network, and the customer base to be a leading logistics provider — but operational inconsistency is quietly eroding both service quality and revenue. Only 1 in 3 shipments is delivered successfully, half of our revenue sits uncollected, and our ‘High Priority’ service is currently indistinguishable from standard delivery. None of these problems are caused by a lack of resources — they are caused by a lack of consistent process, accountability and follow-through.</a:t>
            </a:r>
            <a:endParaRPr lang="en-US" sz="1700" dirty="0"/>
          </a:p>
        </p:txBody>
      </p:sp>
      <p:sp>
        <p:nvSpPr>
          <p:cNvPr id="6" name="Shape 4"/>
          <p:cNvSpPr/>
          <p:nvPr/>
        </p:nvSpPr>
        <p:spPr>
          <a:xfrm>
            <a:off x="502920" y="3154680"/>
            <a:ext cx="3611880" cy="2103120"/>
          </a:xfrm>
          <a:prstGeom prst="roundRect">
            <a:avLst>
              <a:gd name="adj" fmla="val 3478"/>
            </a:avLst>
          </a:prstGeom>
          <a:solidFill>
            <a:srgbClr val="121C33"/>
          </a:solidFill>
          <a:ln/>
        </p:spPr>
      </p:sp>
      <p:sp>
        <p:nvSpPr>
          <p:cNvPr id="7" name="Shape 5"/>
          <p:cNvSpPr/>
          <p:nvPr/>
        </p:nvSpPr>
        <p:spPr>
          <a:xfrm>
            <a:off x="731520" y="3383280"/>
            <a:ext cx="548640" cy="548640"/>
          </a:xfrm>
          <a:prstGeom prst="ellipse">
            <a:avLst/>
          </a:prstGeom>
          <a:solidFill>
            <a:srgbClr val="E0954D"/>
          </a:solidFill>
          <a:ln/>
        </p:spPr>
      </p:sp>
      <p:pic>
        <p:nvPicPr>
          <p:cNvPr id="8" name="Image 0" descr="preencoded.png"/>
          <p:cNvPicPr>
            <a:picLocks noChangeAspect="1"/>
          </p:cNvPicPr>
          <p:nvPr/>
        </p:nvPicPr>
        <p:blipFill>
          <a:blip r:embed="rId3"/>
          <a:stretch>
            <a:fillRect/>
          </a:stretch>
        </p:blipFill>
        <p:spPr>
          <a:xfrm>
            <a:off x="854964" y="3506724"/>
            <a:ext cx="301752" cy="301752"/>
          </a:xfrm>
          <a:prstGeom prst="rect">
            <a:avLst/>
          </a:prstGeom>
        </p:spPr>
      </p:pic>
      <p:sp>
        <p:nvSpPr>
          <p:cNvPr id="9" name="Text 6"/>
          <p:cNvSpPr/>
          <p:nvPr/>
        </p:nvSpPr>
        <p:spPr>
          <a:xfrm>
            <a:off x="731520" y="4069080"/>
            <a:ext cx="315468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The data is clear</a:t>
            </a:r>
            <a:endParaRPr lang="en-US" sz="1600" dirty="0"/>
          </a:p>
        </p:txBody>
      </p:sp>
      <p:sp>
        <p:nvSpPr>
          <p:cNvPr id="10" name="Text 7"/>
          <p:cNvSpPr/>
          <p:nvPr/>
        </p:nvSpPr>
        <p:spPr>
          <a:xfrm>
            <a:off x="731520" y="4462272"/>
            <a:ext cx="3154680" cy="731520"/>
          </a:xfrm>
          <a:prstGeom prst="rect">
            <a:avLst/>
          </a:prstGeom>
          <a:noFill/>
          <a:ln/>
        </p:spPr>
        <p:txBody>
          <a:bodyPr wrap="square" lIns="0" tIns="0" rIns="0" bIns="0" rtlCol="0" anchor="ctr"/>
          <a:lstStyle/>
          <a:p>
            <a:pPr marL="0" indent="0">
              <a:lnSpc>
                <a:spcPct val="120000"/>
              </a:lnSpc>
              <a:buNone/>
            </a:pPr>
            <a:r>
              <a:rPr lang="en-US" sz="1200" dirty="0">
                <a:solidFill>
                  <a:srgbClr val="C7D2E3"/>
                </a:solidFill>
                <a:latin typeface="Calibri" pitchFamily="34" charset="0"/>
                <a:ea typeface="Calibri" pitchFamily="34" charset="-122"/>
                <a:cs typeface="Calibri" pitchFamily="34" charset="-120"/>
              </a:rPr>
              <a:t>Backed by 1,000 real shipment records, not guesswork.</a:t>
            </a:r>
            <a:endParaRPr lang="en-US" sz="1200" dirty="0"/>
          </a:p>
        </p:txBody>
      </p:sp>
      <p:sp>
        <p:nvSpPr>
          <p:cNvPr id="11" name="Shape 8"/>
          <p:cNvSpPr/>
          <p:nvPr/>
        </p:nvSpPr>
        <p:spPr>
          <a:xfrm>
            <a:off x="4297680" y="3154680"/>
            <a:ext cx="3611880" cy="2103120"/>
          </a:xfrm>
          <a:prstGeom prst="roundRect">
            <a:avLst>
              <a:gd name="adj" fmla="val 3478"/>
            </a:avLst>
          </a:prstGeom>
          <a:solidFill>
            <a:srgbClr val="121C33"/>
          </a:solidFill>
          <a:ln/>
        </p:spPr>
      </p:sp>
      <p:sp>
        <p:nvSpPr>
          <p:cNvPr id="12" name="Shape 9"/>
          <p:cNvSpPr/>
          <p:nvPr/>
        </p:nvSpPr>
        <p:spPr>
          <a:xfrm>
            <a:off x="4526280" y="3383280"/>
            <a:ext cx="548640" cy="548640"/>
          </a:xfrm>
          <a:prstGeom prst="ellipse">
            <a:avLst/>
          </a:prstGeom>
          <a:solidFill>
            <a:srgbClr val="E0954D"/>
          </a:solidFill>
          <a:ln/>
        </p:spPr>
      </p:sp>
      <p:pic>
        <p:nvPicPr>
          <p:cNvPr id="13" name="Image 1" descr="preencoded.png"/>
          <p:cNvPicPr>
            <a:picLocks noChangeAspect="1"/>
          </p:cNvPicPr>
          <p:nvPr/>
        </p:nvPicPr>
        <p:blipFill>
          <a:blip r:embed="rId4"/>
          <a:stretch>
            <a:fillRect/>
          </a:stretch>
        </p:blipFill>
        <p:spPr>
          <a:xfrm>
            <a:off x="4649724" y="3506724"/>
            <a:ext cx="301752" cy="301752"/>
          </a:xfrm>
          <a:prstGeom prst="rect">
            <a:avLst/>
          </a:prstGeom>
        </p:spPr>
      </p:pic>
      <p:sp>
        <p:nvSpPr>
          <p:cNvPr id="14" name="Text 10"/>
          <p:cNvSpPr/>
          <p:nvPr/>
        </p:nvSpPr>
        <p:spPr>
          <a:xfrm>
            <a:off x="4526280" y="4069080"/>
            <a:ext cx="315468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The targets are realistic</a:t>
            </a:r>
            <a:endParaRPr lang="en-US" sz="1600" dirty="0"/>
          </a:p>
        </p:txBody>
      </p:sp>
      <p:sp>
        <p:nvSpPr>
          <p:cNvPr id="15" name="Text 11"/>
          <p:cNvSpPr/>
          <p:nvPr/>
        </p:nvSpPr>
        <p:spPr>
          <a:xfrm>
            <a:off x="4526280" y="4462272"/>
            <a:ext cx="3154680" cy="731520"/>
          </a:xfrm>
          <a:prstGeom prst="rect">
            <a:avLst/>
          </a:prstGeom>
          <a:noFill/>
          <a:ln/>
        </p:spPr>
        <p:txBody>
          <a:bodyPr wrap="square" lIns="0" tIns="0" rIns="0" bIns="0" rtlCol="0" anchor="ctr"/>
          <a:lstStyle/>
          <a:p>
            <a:pPr marL="0" indent="0">
              <a:lnSpc>
                <a:spcPct val="120000"/>
              </a:lnSpc>
              <a:buNone/>
            </a:pPr>
            <a:r>
              <a:rPr lang="en-US" sz="1200" dirty="0">
                <a:solidFill>
                  <a:srgbClr val="C7D2E3"/>
                </a:solidFill>
                <a:latin typeface="Calibri" pitchFamily="34" charset="0"/>
                <a:ea typeface="Calibri" pitchFamily="34" charset="-122"/>
                <a:cs typeface="Calibri" pitchFamily="34" charset="-120"/>
              </a:rPr>
              <a:t>60% on-time delivery and ₦66.5M recovered, within 6 months.</a:t>
            </a:r>
            <a:endParaRPr lang="en-US" sz="1200" dirty="0"/>
          </a:p>
        </p:txBody>
      </p:sp>
      <p:sp>
        <p:nvSpPr>
          <p:cNvPr id="16" name="Shape 12"/>
          <p:cNvSpPr/>
          <p:nvPr/>
        </p:nvSpPr>
        <p:spPr>
          <a:xfrm>
            <a:off x="8092440" y="3154680"/>
            <a:ext cx="3611880" cy="2103120"/>
          </a:xfrm>
          <a:prstGeom prst="roundRect">
            <a:avLst>
              <a:gd name="adj" fmla="val 3478"/>
            </a:avLst>
          </a:prstGeom>
          <a:solidFill>
            <a:srgbClr val="121C33"/>
          </a:solidFill>
          <a:ln/>
        </p:spPr>
      </p:sp>
      <p:sp>
        <p:nvSpPr>
          <p:cNvPr id="17" name="Shape 13"/>
          <p:cNvSpPr/>
          <p:nvPr/>
        </p:nvSpPr>
        <p:spPr>
          <a:xfrm>
            <a:off x="8321040" y="3383280"/>
            <a:ext cx="548640" cy="548640"/>
          </a:xfrm>
          <a:prstGeom prst="ellipse">
            <a:avLst/>
          </a:prstGeom>
          <a:solidFill>
            <a:srgbClr val="E0954D"/>
          </a:solidFill>
          <a:ln/>
        </p:spPr>
      </p:sp>
      <p:pic>
        <p:nvPicPr>
          <p:cNvPr id="18" name="Image 2" descr="preencoded.png"/>
          <p:cNvPicPr>
            <a:picLocks noChangeAspect="1"/>
          </p:cNvPicPr>
          <p:nvPr/>
        </p:nvPicPr>
        <p:blipFill>
          <a:blip r:embed="rId5"/>
          <a:stretch>
            <a:fillRect/>
          </a:stretch>
        </p:blipFill>
        <p:spPr>
          <a:xfrm>
            <a:off x="8444484" y="3506724"/>
            <a:ext cx="301752" cy="301752"/>
          </a:xfrm>
          <a:prstGeom prst="rect">
            <a:avLst/>
          </a:prstGeom>
        </p:spPr>
      </p:pic>
      <p:sp>
        <p:nvSpPr>
          <p:cNvPr id="19" name="Text 14"/>
          <p:cNvSpPr/>
          <p:nvPr/>
        </p:nvSpPr>
        <p:spPr>
          <a:xfrm>
            <a:off x="8321040" y="4069080"/>
            <a:ext cx="315468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The team is ready</a:t>
            </a:r>
            <a:endParaRPr lang="en-US" sz="1600" dirty="0"/>
          </a:p>
        </p:txBody>
      </p:sp>
      <p:sp>
        <p:nvSpPr>
          <p:cNvPr id="20" name="Text 15"/>
          <p:cNvSpPr/>
          <p:nvPr/>
        </p:nvSpPr>
        <p:spPr>
          <a:xfrm>
            <a:off x="8321040" y="4462272"/>
            <a:ext cx="3154680" cy="731520"/>
          </a:xfrm>
          <a:prstGeom prst="rect">
            <a:avLst/>
          </a:prstGeom>
          <a:noFill/>
          <a:ln/>
        </p:spPr>
        <p:txBody>
          <a:bodyPr wrap="square" lIns="0" tIns="0" rIns="0" bIns="0" rtlCol="0" anchor="ctr"/>
          <a:lstStyle/>
          <a:p>
            <a:pPr marL="0" indent="0">
              <a:lnSpc>
                <a:spcPct val="120000"/>
              </a:lnSpc>
              <a:buNone/>
            </a:pPr>
            <a:r>
              <a:rPr lang="en-US" sz="1200" dirty="0">
                <a:solidFill>
                  <a:srgbClr val="C7D2E3"/>
                </a:solidFill>
                <a:latin typeface="Calibri" pitchFamily="34" charset="0"/>
                <a:ea typeface="Calibri" pitchFamily="34" charset="-122"/>
                <a:cs typeface="Calibri" pitchFamily="34" charset="-120"/>
              </a:rPr>
              <a:t>Implementation can begin immediately with Board approval.</a:t>
            </a:r>
            <a:endParaRPr lang="en-US" sz="1200" dirty="0"/>
          </a:p>
        </p:txBody>
      </p:sp>
      <p:sp>
        <p:nvSpPr>
          <p:cNvPr id="21" name="Shape 16"/>
          <p:cNvSpPr/>
          <p:nvPr/>
        </p:nvSpPr>
        <p:spPr>
          <a:xfrm>
            <a:off x="502920" y="5440680"/>
            <a:ext cx="11201400" cy="868680"/>
          </a:xfrm>
          <a:prstGeom prst="roundRect">
            <a:avLst>
              <a:gd name="adj" fmla="val 8421"/>
            </a:avLst>
          </a:prstGeom>
          <a:solidFill>
            <a:srgbClr val="E0954D"/>
          </a:solidFill>
          <a:ln/>
        </p:spPr>
      </p:sp>
      <p:sp>
        <p:nvSpPr>
          <p:cNvPr id="22" name="Text 17"/>
          <p:cNvSpPr/>
          <p:nvPr/>
        </p:nvSpPr>
        <p:spPr>
          <a:xfrm>
            <a:off x="777240" y="5486400"/>
            <a:ext cx="10652760" cy="777240"/>
          </a:xfrm>
          <a:prstGeom prst="rect">
            <a:avLst/>
          </a:prstGeom>
          <a:noFill/>
          <a:ln/>
        </p:spPr>
        <p:txBody>
          <a:bodyPr wrap="square" lIns="0" tIns="0" rIns="0" bIns="0" rtlCol="0" anchor="ctr"/>
          <a:lstStyle/>
          <a:p>
            <a:pPr marL="0" indent="0" algn="ctr">
              <a:lnSpc>
                <a:spcPct val="115000"/>
              </a:lnSpc>
              <a:buNone/>
            </a:pPr>
            <a:r>
              <a:rPr lang="en-US" sz="1500" b="1" dirty="0">
                <a:solidFill>
                  <a:srgbClr val="121C33"/>
                </a:solidFill>
                <a:latin typeface="Cambria" pitchFamily="34" charset="0"/>
                <a:ea typeface="Cambria" pitchFamily="34" charset="-122"/>
                <a:cs typeface="Cambria" pitchFamily="34" charset="-120"/>
              </a:rPr>
              <a:t>RECOMMENDATION TO THE BOARD: Approve the four strategic priorities outlined and authorise immediate implementation, with progress reviewed monthly through these same five dashboards.</a:t>
            </a:r>
            <a:endParaRPr lang="en-US" sz="1500" dirty="0"/>
          </a:p>
        </p:txBody>
      </p:sp>
      <p:sp>
        <p:nvSpPr>
          <p:cNvPr id="23" name="Text 18"/>
          <p:cNvSpPr/>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AA7BD"/>
                </a:solidFill>
                <a:latin typeface="Calibri" pitchFamily="34" charset="0"/>
                <a:ea typeface="Calibri" pitchFamily="34" charset="-122"/>
                <a:cs typeface="Calibri" pitchFamily="34" charset="-120"/>
              </a:rPr>
              <a:t>15</a:t>
            </a:r>
            <a:endParaRPr lang="en-US" sz="1000" dirty="0"/>
          </a:p>
        </p:txBody>
      </p:sp>
      <p:sp>
        <p:nvSpPr>
          <p:cNvPr id="24" name="Text 19"/>
          <p:cNvSpPr/>
          <p:nvPr/>
        </p:nvSpPr>
        <p:spPr>
          <a:xfrm>
            <a:off x="502920" y="6446520"/>
            <a:ext cx="3657600" cy="274320"/>
          </a:xfrm>
          <a:prstGeom prst="rect">
            <a:avLst/>
          </a:prstGeom>
          <a:noFill/>
          <a:ln/>
        </p:spPr>
        <p:txBody>
          <a:bodyPr wrap="square" lIns="0" tIns="0" rIns="0" bIns="0" rtlCol="0" anchor="ctr"/>
          <a:lstStyle/>
          <a:p>
            <a:pPr marL="0" indent="0">
              <a:buNone/>
            </a:pPr>
            <a:r>
              <a:rPr lang="en-US" sz="1000" dirty="0">
                <a:solidFill>
                  <a:srgbClr val="9AA7BD"/>
                </a:solidFill>
                <a:latin typeface="Calibri" pitchFamily="34" charset="0"/>
                <a:ea typeface="Calibri" pitchFamily="34" charset="-122"/>
                <a:cs typeface="Calibri" pitchFamily="34" charset="-120"/>
              </a:rPr>
              <a:t>PrimeProcure Logistics &amp; Supply Ltd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1986</Words>
  <Application>Microsoft Office PowerPoint</Application>
  <PresentationFormat>Widescreen</PresentationFormat>
  <Paragraphs>264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PrimeProcure Logistics - Board Presentation</dc:title>
  <dc:subject>PptxGenJS Presentation</dc:subject>
  <dc:creator>Data Analytics Team</dc:creator>
  <cp:lastModifiedBy>Prisca Okeke</cp:lastModifiedBy>
  <cp:revision>17</cp:revision>
  <dcterms:created xsi:type="dcterms:W3CDTF">2026-06-15T08:17:24Z</dcterms:created>
  <dcterms:modified xsi:type="dcterms:W3CDTF">2026-06-17T06:46:35Z</dcterms:modified>
</cp:coreProperties>
</file>